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65" r:id="rId5"/>
    <p:sldId id="270" r:id="rId6"/>
    <p:sldId id="259" r:id="rId7"/>
    <p:sldId id="260" r:id="rId8"/>
    <p:sldId id="271" r:id="rId9"/>
    <p:sldId id="268" r:id="rId10"/>
    <p:sldId id="266" r:id="rId11"/>
    <p:sldId id="267" r:id="rId12"/>
    <p:sldId id="272" r:id="rId13"/>
    <p:sldId id="262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lang="de-DE" sz="1300" b="0" i="0" u="none" strike="noStrike">
                <a:solidFill>
                  <a:srgbClr val="1A237E"/>
                </a:solidFill>
                <a:latin typeface="Arial"/>
              </a:rPr>
              <a:t>Accuracy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 (%)</c:v>
                </c:pt>
              </c:strCache>
            </c:strRef>
          </c:tx>
          <c:spPr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83.57</c:v>
                </c:pt>
                <c:pt idx="1">
                  <c:v>94.76</c:v>
                </c:pt>
                <c:pt idx="2">
                  <c:v>96.1</c:v>
                </c:pt>
                <c:pt idx="3">
                  <c:v>96.73</c:v>
                </c:pt>
                <c:pt idx="4">
                  <c:v>97.16</c:v>
                </c:pt>
                <c:pt idx="5">
                  <c:v>97.41</c:v>
                </c:pt>
                <c:pt idx="6">
                  <c:v>97.9</c:v>
                </c:pt>
                <c:pt idx="7">
                  <c:v>97.98</c:v>
                </c:pt>
                <c:pt idx="8">
                  <c:v>98.02</c:v>
                </c:pt>
                <c:pt idx="9">
                  <c:v>98.14</c:v>
                </c:pt>
                <c:pt idx="10">
                  <c:v>98.33</c:v>
                </c:pt>
                <c:pt idx="11">
                  <c:v>98.45</c:v>
                </c:pt>
                <c:pt idx="12">
                  <c:v>98.55</c:v>
                </c:pt>
                <c:pt idx="13">
                  <c:v>98.65</c:v>
                </c:pt>
                <c:pt idx="14">
                  <c:v>98.64</c:v>
                </c:pt>
                <c:pt idx="15">
                  <c:v>98.68</c:v>
                </c:pt>
                <c:pt idx="16">
                  <c:v>98.7</c:v>
                </c:pt>
                <c:pt idx="17">
                  <c:v>98.71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FF7-40ED-ACB6-FEC82CEA36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 (%)</c:v>
                </c:pt>
              </c:strCache>
            </c:strRef>
          </c:tx>
          <c:spPr>
            <a:ln w="31750" cap="flat">
              <a:solidFill>
                <a:srgbClr val="0089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85.7</c:v>
                </c:pt>
                <c:pt idx="1">
                  <c:v>98.42</c:v>
                </c:pt>
                <c:pt idx="2">
                  <c:v>98.61</c:v>
                </c:pt>
                <c:pt idx="3">
                  <c:v>99.14</c:v>
                </c:pt>
                <c:pt idx="4">
                  <c:v>99</c:v>
                </c:pt>
                <c:pt idx="5">
                  <c:v>99.13</c:v>
                </c:pt>
                <c:pt idx="6">
                  <c:v>99.08</c:v>
                </c:pt>
                <c:pt idx="7">
                  <c:v>99.3</c:v>
                </c:pt>
                <c:pt idx="8">
                  <c:v>99.15</c:v>
                </c:pt>
                <c:pt idx="9">
                  <c:v>99.14</c:v>
                </c:pt>
                <c:pt idx="10">
                  <c:v>99.25</c:v>
                </c:pt>
                <c:pt idx="11">
                  <c:v>99.27</c:v>
                </c:pt>
                <c:pt idx="12">
                  <c:v>99.39</c:v>
                </c:pt>
                <c:pt idx="13">
                  <c:v>99.44</c:v>
                </c:pt>
                <c:pt idx="14">
                  <c:v>99.41</c:v>
                </c:pt>
                <c:pt idx="15">
                  <c:v>99.35</c:v>
                </c:pt>
                <c:pt idx="16">
                  <c:v>99.32</c:v>
                </c:pt>
                <c:pt idx="17">
                  <c:v>99.37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FF7-40ED-ACB6-FEC82CEA36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lang="de-DE" sz="1300" b="0" i="0" u="none" strike="noStrike">
                <a:solidFill>
                  <a:srgbClr val="1A237E"/>
                </a:solidFill>
                <a:latin typeface="Arial"/>
              </a:rPr>
              <a:t>Loss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FF6F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F00"/>
              </a:solidFill>
              <a:ln w="9525" cap="flat">
                <a:solidFill>
                  <a:srgbClr val="FF6F00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0.53979999999999995</c:v>
                </c:pt>
                <c:pt idx="1">
                  <c:v>0.16420000000000001</c:v>
                </c:pt>
                <c:pt idx="2">
                  <c:v>0.1226</c:v>
                </c:pt>
                <c:pt idx="3">
                  <c:v>0.1003</c:v>
                </c:pt>
                <c:pt idx="4">
                  <c:v>8.8599999999999998E-2</c:v>
                </c:pt>
                <c:pt idx="5">
                  <c:v>8.09E-2</c:v>
                </c:pt>
                <c:pt idx="6">
                  <c:v>6.4299999999999996E-2</c:v>
                </c:pt>
                <c:pt idx="7">
                  <c:v>6.0499999999999998E-2</c:v>
                </c:pt>
                <c:pt idx="8">
                  <c:v>6.0100000000000001E-2</c:v>
                </c:pt>
                <c:pt idx="9">
                  <c:v>5.7799999999999997E-2</c:v>
                </c:pt>
                <c:pt idx="10">
                  <c:v>5.1299999999999998E-2</c:v>
                </c:pt>
                <c:pt idx="11">
                  <c:v>4.6800000000000001E-2</c:v>
                </c:pt>
                <c:pt idx="12">
                  <c:v>4.4299999999999999E-2</c:v>
                </c:pt>
                <c:pt idx="13">
                  <c:v>4.2799999999999998E-2</c:v>
                </c:pt>
                <c:pt idx="14">
                  <c:v>4.1799999999999997E-2</c:v>
                </c:pt>
                <c:pt idx="15">
                  <c:v>4.19E-2</c:v>
                </c:pt>
                <c:pt idx="16">
                  <c:v>4.0500000000000001E-2</c:v>
                </c:pt>
                <c:pt idx="17">
                  <c:v>3.9100000000000003E-2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183-4D45-BC64-6D3F3CEF75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1750" cap="flat">
              <a:solidFill>
                <a:srgbClr val="C628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0.51049999999999995</c:v>
                </c:pt>
                <c:pt idx="1">
                  <c:v>5.5300000000000002E-2</c:v>
                </c:pt>
                <c:pt idx="2">
                  <c:v>4.8399999999999999E-2</c:v>
                </c:pt>
                <c:pt idx="3">
                  <c:v>2.6800000000000001E-2</c:v>
                </c:pt>
                <c:pt idx="4">
                  <c:v>3.09E-2</c:v>
                </c:pt>
                <c:pt idx="5">
                  <c:v>2.9100000000000001E-2</c:v>
                </c:pt>
                <c:pt idx="6">
                  <c:v>2.7400000000000001E-2</c:v>
                </c:pt>
                <c:pt idx="7">
                  <c:v>2.1499999999999998E-2</c:v>
                </c:pt>
                <c:pt idx="8">
                  <c:v>2.3699999999999999E-2</c:v>
                </c:pt>
                <c:pt idx="9">
                  <c:v>2.2800000000000001E-2</c:v>
                </c:pt>
                <c:pt idx="10">
                  <c:v>2.2100000000000002E-2</c:v>
                </c:pt>
                <c:pt idx="11">
                  <c:v>2.2800000000000001E-2</c:v>
                </c:pt>
                <c:pt idx="12">
                  <c:v>1.8599999999999998E-2</c:v>
                </c:pt>
                <c:pt idx="13">
                  <c:v>1.9199999999999998E-2</c:v>
                </c:pt>
                <c:pt idx="14">
                  <c:v>1.7899999999999999E-2</c:v>
                </c:pt>
                <c:pt idx="15">
                  <c:v>2.01E-2</c:v>
                </c:pt>
                <c:pt idx="16">
                  <c:v>1.9599999999999999E-2</c:v>
                </c:pt>
                <c:pt idx="17">
                  <c:v>1.7600000000000001E-2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183-4D45-BC64-6D3F3CEF75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29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09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5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95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02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90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78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4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27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274320"/>
            <a:ext cx="2743200" cy="2743200"/>
          </a:xfrm>
          <a:prstGeom prst="ellipse">
            <a:avLst/>
          </a:prstGeom>
          <a:solidFill>
            <a:srgbClr val="162B47"/>
          </a:solidFill>
          <a:ln w="12700">
            <a:solidFill>
              <a:srgbClr val="16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371600"/>
            <a:ext cx="365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1371600"/>
            <a:ext cx="365760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371600"/>
            <a:ext cx="3657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783080"/>
            <a:ext cx="365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783080"/>
            <a:ext cx="365760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783080"/>
            <a:ext cx="3657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2194560"/>
            <a:ext cx="365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2194560"/>
            <a:ext cx="365760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194560"/>
            <a:ext cx="3657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17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Training · Evaluation</a:t>
            </a: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192024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73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99890" y="3197332"/>
            <a:ext cx="192024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5610" y="3278707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177K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3037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1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0C23F732-4217-8C6F-6A93-A1035A1FB762}"/>
              </a:ext>
            </a:extLst>
          </p:cNvPr>
          <p:cNvSpPr/>
          <p:nvPr/>
        </p:nvSpPr>
        <p:spPr>
          <a:xfrm>
            <a:off x="6766560" y="3200400"/>
            <a:ext cx="192024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CDB1A70F-4301-310A-6460-233DC671CCC1}"/>
              </a:ext>
            </a:extLst>
          </p:cNvPr>
          <p:cNvSpPr/>
          <p:nvPr/>
        </p:nvSpPr>
        <p:spPr>
          <a:xfrm>
            <a:off x="6812280" y="326385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64192</a:t>
            </a:r>
            <a:endParaRPr lang="en-US" sz="24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C6A23349-D968-C17B-E29A-E7CCCE8A4B5A}"/>
              </a:ext>
            </a:extLst>
          </p:cNvPr>
          <p:cNvSpPr/>
          <p:nvPr/>
        </p:nvSpPr>
        <p:spPr>
          <a:xfrm>
            <a:off x="673608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Problem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13432" y="927379"/>
            <a:ext cx="3931920" cy="4023360"/>
          </a:xfrm>
          <a:prstGeom prst="rect">
            <a:avLst/>
          </a:prstGeom>
          <a:solidFill>
            <a:srgbClr val="E8EDF2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1058" y="8585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87660" y="1178410"/>
            <a:ext cx="1645920" cy="1645920"/>
          </a:xfrm>
          <a:prstGeom prst="rect">
            <a:avLst/>
          </a:prstGeom>
          <a:solidFill>
            <a:srgbClr val="0D1B2A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5198" y="122517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24912" y="1664208"/>
            <a:ext cx="347472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9636" y="1672278"/>
            <a:ext cx="34747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5418" y="1673475"/>
            <a:ext cx="347472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9766" y="1965960"/>
            <a:ext cx="34747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9636" y="1941289"/>
            <a:ext cx="347472" cy="210312"/>
          </a:xfrm>
          <a:prstGeom prst="rect">
            <a:avLst/>
          </a:prstGeom>
          <a:solidFill>
            <a:srgbClr val="00BCD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4740" y="1965960"/>
            <a:ext cx="34747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57008" y="2277869"/>
            <a:ext cx="347472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9636" y="2274278"/>
            <a:ext cx="34747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4740" y="2263892"/>
            <a:ext cx="347472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images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0–9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16461" y="1178410"/>
            <a:ext cx="1645920" cy="1645920"/>
          </a:xfrm>
          <a:prstGeom prst="rect">
            <a:avLst/>
          </a:prstGeom>
          <a:solidFill>
            <a:srgbClr val="1A2744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6461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OPS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36008" y="1641348"/>
            <a:ext cx="50292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6413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17820" y="1641348"/>
            <a:ext cx="50292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7820" y="16413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17720" y="2178604"/>
            <a:ext cx="50292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8094" y="2153995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06774" y="2153995"/>
            <a:ext cx="50292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0050" y="2153995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286000" y="2514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~490 images/op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operators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20123" y="298692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14 Classes  |  Balanced via augmentation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3758" y="3409852"/>
            <a:ext cx="182880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2195" y="3417523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28×28: Grayscale input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3417523"/>
            <a:ext cx="1828800" cy="411480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16552" y="3417523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Pixel ÷ 255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73758" y="3974555"/>
            <a:ext cx="182880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397179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Elastic: Deform augment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97680" y="3978561"/>
            <a:ext cx="1828800" cy="411480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396509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Target per class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Neural Network (CNN) Architecture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Shape 4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5"/>
          <p:cNvSpPr/>
          <p:nvPr/>
        </p:nvSpPr>
        <p:spPr>
          <a:xfrm>
            <a:off x="411480" y="44074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epoch: 13  (val acc 99.39%,  val loss 0.0186)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Shape 8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9"/>
          <p:cNvSpPr/>
          <p:nvPr/>
        </p:nvSpPr>
        <p:spPr>
          <a:xfrm>
            <a:off x="411480" y="4901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halved LR at epochs 6 / 10 / 12 / 17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0D5B31-D48A-A0E5-913F-29F6CD2F7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" y="685800"/>
            <a:ext cx="911641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3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Neural Network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Shape 4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5"/>
          <p:cNvSpPr/>
          <p:nvPr/>
        </p:nvSpPr>
        <p:spPr>
          <a:xfrm>
            <a:off x="411480" y="44074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epoch: 13  (val acc 99.39%,  val loss 0.0186)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Shape 8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066B8B-E61F-35FF-A337-75ABBF6F2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799"/>
            <a:ext cx="9144000" cy="442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9E2781-0CED-EAD8-7734-73DAAEB891BF}"/>
              </a:ext>
            </a:extLst>
          </p:cNvPr>
          <p:cNvSpPr txBox="1"/>
          <p:nvPr/>
        </p:nvSpPr>
        <p:spPr>
          <a:xfrm>
            <a:off x="196381" y="1031001"/>
            <a:ext cx="8824881" cy="397031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38BDF8"/>
                </a:solidFill>
                <a:effectLst/>
                <a:latin typeface="Lato" panose="020F0502020204030203" pitchFamily="34" charset="0"/>
              </a:rPr>
              <a:t>Batch Normalization</a:t>
            </a:r>
            <a:r>
              <a:rPr lang="en-US" sz="1800" b="0" i="0" u="none" strike="noStrike" dirty="0">
                <a:solidFill>
                  <a:srgbClr val="E2E8F0"/>
                </a:solidFill>
                <a:effectLst/>
                <a:latin typeface="Lato" panose="020F0502020204030203" pitchFamily="34" charset="0"/>
              </a:rPr>
              <a:t> Rescales layer outputs to mean zero and unit variance.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E2E8F0"/>
                </a:solidFill>
                <a:latin typeface="Lato" panose="020F0502020204030203" pitchFamily="34" charset="0"/>
              </a:rPr>
              <a:t>A</a:t>
            </a:r>
            <a:r>
              <a:rPr lang="en-US" sz="1800" b="0" i="0" u="none" strike="noStrike" dirty="0">
                <a:solidFill>
                  <a:srgbClr val="E2E8F0"/>
                </a:solidFill>
                <a:effectLst/>
                <a:latin typeface="Lato" panose="020F0502020204030203" pitchFamily="34" charset="0"/>
              </a:rPr>
              <a:t>ccelerates training by up to 3× and provides mild regularization.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 err="1">
                <a:solidFill>
                  <a:srgbClr val="38BDF8"/>
                </a:solidFill>
                <a:effectLst/>
                <a:latin typeface="Lato" panose="020F0502020204030203" pitchFamily="34" charset="0"/>
              </a:rPr>
              <a:t>MaxPooling</a:t>
            </a:r>
            <a:r>
              <a:rPr lang="en-US" sz="1800" b="1" i="0" u="none" strike="noStrike" dirty="0">
                <a:solidFill>
                  <a:srgbClr val="38BDF8"/>
                </a:solidFill>
                <a:effectLst/>
                <a:latin typeface="Lato" panose="020F0502020204030203" pitchFamily="34" charset="0"/>
              </a:rPr>
              <a:t> (2×2)</a:t>
            </a:r>
            <a:r>
              <a:rPr lang="en-US" sz="1800" b="0" i="0" u="none" strike="noStrike" dirty="0">
                <a:solidFill>
                  <a:srgbClr val="E2E8F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E2E8F0"/>
                </a:solidFill>
                <a:effectLst/>
                <a:latin typeface="Lato" panose="020F0502020204030203" pitchFamily="34" charset="0"/>
              </a:rPr>
              <a:t>Downsamples</a:t>
            </a:r>
            <a:r>
              <a:rPr lang="en-US" sz="1800" b="0" i="0" u="none" strike="noStrike" dirty="0">
                <a:solidFill>
                  <a:srgbClr val="E2E8F0"/>
                </a:solidFill>
                <a:effectLst/>
                <a:latin typeface="Lato" panose="020F0502020204030203" pitchFamily="34" charset="0"/>
              </a:rPr>
              <a:t> spatial dimensions to reduce computation costs while making detected features invariant to small translational shifts.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r>
              <a:rPr lang="en-US" sz="1800" b="1" i="0" u="none" strike="noStrike" dirty="0">
                <a:solidFill>
                  <a:srgbClr val="38BDF8"/>
                </a:solidFill>
                <a:effectLst/>
                <a:latin typeface="Lato" panose="020F0502020204030203" pitchFamily="34" charset="0"/>
              </a:rPr>
              <a:t>Dropout Regularization</a:t>
            </a:r>
            <a:r>
              <a:rPr lang="en-US" sz="1800" b="0" i="0" u="none" strike="noStrike" dirty="0">
                <a:solidFill>
                  <a:srgbClr val="E2E8F0"/>
                </a:solidFill>
                <a:effectLst/>
                <a:latin typeface="Lato" panose="020F0502020204030203" pitchFamily="34" charset="0"/>
              </a:rPr>
              <a:t> Randomly silences 25–50% of neurons during training. This prevents memorization and forces robust, distributed learning.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r>
              <a:rPr lang="en-US" sz="1800" b="1" i="0" u="none" strike="noStrike" dirty="0" err="1">
                <a:solidFill>
                  <a:srgbClr val="38BDF8"/>
                </a:solidFill>
                <a:effectLst/>
                <a:latin typeface="Lato" panose="020F0502020204030203" pitchFamily="34" charset="0"/>
              </a:rPr>
              <a:t>GlobalAveragePooling</a:t>
            </a:r>
            <a:r>
              <a:rPr lang="en-US" sz="1800" b="0" i="0" u="none" strike="noStrike" dirty="0">
                <a:solidFill>
                  <a:srgbClr val="E2E8F0"/>
                </a:solidFill>
                <a:effectLst/>
                <a:latin typeface="Lato" panose="020F0502020204030203" pitchFamily="34" charset="0"/>
              </a:rPr>
              <a:t> Replaces the Flatten layer by averaging feature maps into a compact vector, dramatically reducing model parameter count.</a:t>
            </a:r>
            <a:endParaRPr lang="en-US" b="0" dirty="0">
              <a:effectLst/>
            </a:endParaRPr>
          </a:p>
          <a:p>
            <a:br>
              <a:rPr lang="en-US" dirty="0"/>
            </a:br>
            <a:br>
              <a:rPr lang="en-US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307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 &amp; Data Augmentation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 lr=1e-3  wd=1e-4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4206240" cy="411480"/>
          </a:xfrm>
          <a:prstGeom prst="rect">
            <a:avLst/>
          </a:prstGeom>
          <a:solidFill>
            <a:srgbClr val="E8EDF2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2062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4206240" cy="411480"/>
          </a:xfrm>
          <a:prstGeom prst="rect">
            <a:avLst/>
          </a:prstGeom>
          <a:solidFill>
            <a:srgbClr val="E8EDF2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(early stop @ 18)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017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4206240" cy="411480"/>
          </a:xfrm>
          <a:prstGeom prst="rect">
            <a:avLst/>
          </a:prstGeom>
          <a:solidFill>
            <a:srgbClr val="E8EDF2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 +  ReduceLROnPlateau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977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42062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526280"/>
            <a:ext cx="182880" cy="18288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1e-3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216152" y="4526280"/>
            <a:ext cx="182880" cy="18288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5e-4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(ep6)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49424" y="4526280"/>
            <a:ext cx="182880" cy="18288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12264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2.5e-4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(ep10)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82696" y="4526280"/>
            <a:ext cx="182880" cy="18288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45536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1.25e-4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(ep12)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315968" y="4526280"/>
            <a:ext cx="182880" cy="18288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8808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6.25e-5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(ep17)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880" y="822960"/>
            <a:ext cx="411480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132588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13248" y="13441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13248" y="152704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±8%  (28.8°)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52360" y="1371600"/>
            <a:ext cx="10972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±8%  (28.8°)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937760" y="1901952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13248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Translation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13248" y="21031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±8% H &amp; V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52360" y="1947672"/>
            <a:ext cx="10972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19476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±8% H &amp; V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37760" y="2478024"/>
            <a:ext cx="411480" cy="41148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478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13248" y="24963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Zoom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13248" y="267919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52360" y="2523744"/>
            <a:ext cx="10972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5237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937760" y="3054096"/>
            <a:ext cx="411480" cy="4114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3054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413248" y="30723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Transform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13248" y="325526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α=8  σ=4  p=0.7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52360" y="3099816"/>
            <a:ext cx="10972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30998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α=8  σ=4  p=0.7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937760" y="3630168"/>
            <a:ext cx="411480" cy="41148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3630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413248" y="3648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Normalize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413248" y="383133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255 → [0,1]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452360" y="3675888"/>
            <a:ext cx="10972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523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255 → [0,1]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</a:t>
            </a: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D109AD-D89B-6A86-CA55-0CA9B6CAD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2073"/>
            <a:ext cx="9144000" cy="22788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6F3B30-7CFE-4DCE-8218-2A11A2F1D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60951"/>
            <a:ext cx="9144000" cy="2289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Confusion Matrix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359EE-6E7F-35D0-6891-3977B38FC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32"/>
            <a:ext cx="9144000" cy="4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2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</a:t>
            </a:r>
            <a:r>
              <a:rPr lang="de-DE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 &amp; Loss Curves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77724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241901444"/>
              </p:ext>
            </p:extLst>
          </p:nvPr>
        </p:nvGraphicFramePr>
        <p:xfrm>
          <a:off x="4669577" y="77724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3"/>
          <p:cNvSpPr/>
          <p:nvPr/>
        </p:nvSpPr>
        <p:spPr>
          <a:xfrm>
            <a:off x="411480" y="41605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convergence: val acc jumped from 85.7% → 98.4% in just 2 epochs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5"/>
          <p:cNvSpPr/>
          <p:nvPr/>
        </p:nvSpPr>
        <p:spPr>
          <a:xfrm>
            <a:off x="411480" y="44074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epoch: 13  (val acc 99.39%,  val loss 0.0186)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7"/>
          <p:cNvSpPr/>
          <p:nvPr/>
        </p:nvSpPr>
        <p:spPr>
          <a:xfrm>
            <a:off x="411480" y="465429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triggered at epoch 18, no overfitting observed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2880" y="4206240"/>
            <a:ext cx="164592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9"/>
          <p:cNvSpPr/>
          <p:nvPr/>
        </p:nvSpPr>
        <p:spPr>
          <a:xfrm>
            <a:off x="411480" y="4901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halved LR at epochs 6 / 10 / 12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94897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819A97-CA24-AD9B-5874-7CD050881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0"/>
            <a:ext cx="914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1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Confusion Matrix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86916-4228-A580-B593-37599240E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30" y="685800"/>
            <a:ext cx="4571622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4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A9703-DD4C-0232-A4E1-E96CDE948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9144000" cy="14437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E3946B-9096-237F-14C6-B64018D39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80412"/>
            <a:ext cx="9144000" cy="306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73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Pipeline &amp; Safe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12064" y="822960"/>
            <a:ext cx="1463040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868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12984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6642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draws 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canvas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75104" y="1783080"/>
            <a:ext cx="201168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6272" y="822960"/>
            <a:ext cx="1463040" cy="19202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868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76272" y="12984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16642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28×28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÷ 255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39312" y="1783080"/>
            <a:ext cx="201168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822960"/>
            <a:ext cx="1463040" cy="192024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868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40480" y="12984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Infer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16642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best_model.keras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1783080"/>
            <a:ext cx="201168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822960"/>
            <a:ext cx="1463040" cy="192024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868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⊑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04688" y="12984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04688" y="16642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14-class probs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→ label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67728" y="1783080"/>
            <a:ext cx="201168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8896" y="822960"/>
            <a:ext cx="1463040" cy="192024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868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68896" y="12984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68896" y="16642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equation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result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EVALUATION DESIGN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33756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337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3284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guard: model.compile() enforced before evaluate() call — catches ValueError before production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758184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758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Class-split eval: digit accuracy (99.38%) and operator accuracy (99.59%) measured independently to catch domain imbalance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178808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178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1696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check: best_model.keras reloaded and re-evaluated after save to confirm lossless serialization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99432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599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guard: eval logic checks divisor ≠ 0 before computing; invalid expressions return 'Error' not exception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8FFFA0-F230-909F-F2DC-698425F6BBDE}"/>
              </a:ext>
            </a:extLst>
          </p:cNvPr>
          <p:cNvSpPr/>
          <p:nvPr/>
        </p:nvSpPr>
        <p:spPr>
          <a:xfrm>
            <a:off x="365760" y="1325880"/>
            <a:ext cx="4023360" cy="14630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 layers (32→32→64→64→128)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 → Dense 256 → Softmax 14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177K params, only 694 KB</a:t>
            </a:r>
            <a:endParaRPr lang="en-US" sz="11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9DDA58AE-4A36-98CC-1A82-A447F16EE164}"/>
              </a:ext>
            </a:extLst>
          </p:cNvPr>
          <p:cNvSpPr/>
          <p:nvPr/>
        </p:nvSpPr>
        <p:spPr>
          <a:xfrm>
            <a:off x="4800600" y="1325880"/>
            <a:ext cx="4023360" cy="14630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(60K) + Kaggle operators (~490/class)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Auto-balanced · Elastic deform · Online aug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augmentation reduces overfitting</a:t>
            </a:r>
            <a:endParaRPr lang="en-US" sz="110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E964D0E2-1AA6-3A47-8971-449D7B042E4F}"/>
              </a:ext>
            </a:extLst>
          </p:cNvPr>
          <p:cNvSpPr/>
          <p:nvPr/>
        </p:nvSpPr>
        <p:spPr>
          <a:xfrm>
            <a:off x="365760" y="3429000"/>
            <a:ext cx="4023360" cy="146304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ReduceLROnPlateau (×0.5 on plateau)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 @ ep18, best weights restored ep13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convergence: 98.4% val acc by epoch 2</a:t>
            </a:r>
            <a:endParaRPr lang="en-US" sz="110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877ECC1F-CBBA-833A-515B-D6F9F03A1FD6}"/>
              </a:ext>
            </a:extLst>
          </p:cNvPr>
          <p:cNvSpPr/>
          <p:nvPr/>
        </p:nvSpPr>
        <p:spPr>
          <a:xfrm>
            <a:off x="4800600" y="3429000"/>
            <a:ext cx="4023360" cy="14630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99.39%  |  Digits: 99.38%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99.59%  |  − &amp; ÷: 100%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all 14 classes ≥ 98.7%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1F996F-FCE9-665E-551D-0F8B8276A14F}"/>
              </a:ext>
            </a:extLst>
          </p:cNvPr>
          <p:cNvSpPr txBox="1"/>
          <p:nvPr/>
        </p:nvSpPr>
        <p:spPr>
          <a:xfrm>
            <a:off x="4800600" y="336768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7B4F2-E197-5EF6-1EBA-7A718FD2A47B}"/>
              </a:ext>
            </a:extLst>
          </p:cNvPr>
          <p:cNvSpPr txBox="1"/>
          <p:nvPr/>
        </p:nvSpPr>
        <p:spPr>
          <a:xfrm>
            <a:off x="365760" y="3367686"/>
            <a:ext cx="4722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5F5300-4F8A-2669-9F2B-4959BDD8607F}"/>
              </a:ext>
            </a:extLst>
          </p:cNvPr>
          <p:cNvSpPr txBox="1"/>
          <p:nvPr/>
        </p:nvSpPr>
        <p:spPr>
          <a:xfrm>
            <a:off x="320040" y="1313606"/>
            <a:ext cx="468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F09D63-6C69-D8BF-3ED1-177F00D602CB}"/>
              </a:ext>
            </a:extLst>
          </p:cNvPr>
          <p:cNvSpPr txBox="1"/>
          <p:nvPr/>
        </p:nvSpPr>
        <p:spPr>
          <a:xfrm>
            <a:off x="4800600" y="1300773"/>
            <a:ext cx="468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333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On-screen Show (16:9)</PresentationFormat>
  <Paragraphs>156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staniya thomas</cp:lastModifiedBy>
  <cp:revision>3</cp:revision>
  <dcterms:created xsi:type="dcterms:W3CDTF">2026-05-29T14:34:03Z</dcterms:created>
  <dcterms:modified xsi:type="dcterms:W3CDTF">2026-05-31T13:40:37Z</dcterms:modified>
</cp:coreProperties>
</file>