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16"/>
  </p:notesMasterIdLst>
  <p:sldIdLst>
    <p:sldId id="256" r:id="rId2"/>
    <p:sldId id="257" r:id="rId3"/>
    <p:sldId id="264" r:id="rId4"/>
    <p:sldId id="265" r:id="rId5"/>
    <p:sldId id="270" r:id="rId6"/>
    <p:sldId id="259" r:id="rId7"/>
    <p:sldId id="260" r:id="rId8"/>
    <p:sldId id="271" r:id="rId9"/>
    <p:sldId id="268" r:id="rId10"/>
    <p:sldId id="266" r:id="rId11"/>
    <p:sldId id="267" r:id="rId12"/>
    <p:sldId id="272" r:id="rId13"/>
    <p:sldId id="262" r:id="rId14"/>
    <p:sldId id="269" r:id="rId15"/>
  </p:sldIdLst>
  <p:sldSz cx="12192000" cy="6858000"/>
  <p:notesSz cx="51435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A237E"/>
    <a:srgbClr val="605C93"/>
    <a:srgbClr val="0D1B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0" d="100"/>
          <a:sy n="60" d="100"/>
        </p:scale>
        <p:origin x="42" y="11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37E"/>
                </a:solidFill>
                <a:latin typeface="Arial"/>
              </a:defRPr>
            </a:pPr>
            <a:r>
              <a:rPr lang="de-DE" sz="1300" b="0" i="0" u="none" strike="noStrike">
                <a:solidFill>
                  <a:srgbClr val="1A237E"/>
                </a:solidFill>
                <a:latin typeface="Arial"/>
              </a:rPr>
              <a:t>Accuracy per Epoch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Train Acc (%)</c:v>
                </c:pt>
              </c:strCache>
            </c:strRef>
          </c:tx>
          <c:spPr>
            <a:ln w="31750" cap="flat">
              <a:solidFill>
                <a:srgbClr val="1565C0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565C0"/>
              </a:solidFill>
              <a:ln w="9525" cap="flat">
                <a:solidFill>
                  <a:srgbClr val="1565C0"/>
                </a:solidFill>
                <a:prstDash val="solid"/>
                <a:round/>
              </a:ln>
              <a:effectLst/>
            </c:spPr>
          </c:marker>
          <c:cat>
            <c:strRef>
              <c:f>Sheet1!$A$2:$A$19</c:f>
              <c:strCache>
                <c:ptCount val="18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</c:strCache>
            </c: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83.57</c:v>
                </c:pt>
                <c:pt idx="1">
                  <c:v>94.76</c:v>
                </c:pt>
                <c:pt idx="2">
                  <c:v>96.1</c:v>
                </c:pt>
                <c:pt idx="3">
                  <c:v>96.73</c:v>
                </c:pt>
                <c:pt idx="4">
                  <c:v>97.16</c:v>
                </c:pt>
                <c:pt idx="5">
                  <c:v>97.41</c:v>
                </c:pt>
                <c:pt idx="6">
                  <c:v>97.9</c:v>
                </c:pt>
                <c:pt idx="7">
                  <c:v>97.98</c:v>
                </c:pt>
                <c:pt idx="8">
                  <c:v>98.02</c:v>
                </c:pt>
                <c:pt idx="9">
                  <c:v>98.14</c:v>
                </c:pt>
                <c:pt idx="10">
                  <c:v>98.33</c:v>
                </c:pt>
                <c:pt idx="11">
                  <c:v>98.45</c:v>
                </c:pt>
                <c:pt idx="12">
                  <c:v>98.55</c:v>
                </c:pt>
                <c:pt idx="13">
                  <c:v>98.65</c:v>
                </c:pt>
                <c:pt idx="14">
                  <c:v>98.64</c:v>
                </c:pt>
                <c:pt idx="15">
                  <c:v>98.68</c:v>
                </c:pt>
                <c:pt idx="16">
                  <c:v>98.7</c:v>
                </c:pt>
                <c:pt idx="17">
                  <c:v>98.71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AFF7-40ED-ACB6-FEC82CEA364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 Acc (%)</c:v>
                </c:pt>
              </c:strCache>
            </c:strRef>
          </c:tx>
          <c:spPr>
            <a:ln w="31750" cap="flat">
              <a:solidFill>
                <a:srgbClr val="00897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897B"/>
              </a:solidFill>
              <a:ln w="9525" cap="flat">
                <a:solidFill>
                  <a:srgbClr val="00897B"/>
                </a:solidFill>
                <a:prstDash val="solid"/>
                <a:round/>
              </a:ln>
              <a:effectLst/>
            </c:spPr>
          </c:marker>
          <c:cat>
            <c:strRef>
              <c:f>Sheet1!$A$2:$A$19</c:f>
              <c:strCache>
                <c:ptCount val="18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</c:strCache>
            </c: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85.7</c:v>
                </c:pt>
                <c:pt idx="1">
                  <c:v>98.42</c:v>
                </c:pt>
                <c:pt idx="2">
                  <c:v>98.61</c:v>
                </c:pt>
                <c:pt idx="3">
                  <c:v>99.14</c:v>
                </c:pt>
                <c:pt idx="4">
                  <c:v>99</c:v>
                </c:pt>
                <c:pt idx="5">
                  <c:v>99.13</c:v>
                </c:pt>
                <c:pt idx="6">
                  <c:v>99.08</c:v>
                </c:pt>
                <c:pt idx="7">
                  <c:v>99.3</c:v>
                </c:pt>
                <c:pt idx="8">
                  <c:v>99.15</c:v>
                </c:pt>
                <c:pt idx="9">
                  <c:v>99.14</c:v>
                </c:pt>
                <c:pt idx="10">
                  <c:v>99.25</c:v>
                </c:pt>
                <c:pt idx="11">
                  <c:v>99.27</c:v>
                </c:pt>
                <c:pt idx="12">
                  <c:v>99.39</c:v>
                </c:pt>
                <c:pt idx="13">
                  <c:v>99.44</c:v>
                </c:pt>
                <c:pt idx="14">
                  <c:v>99.41</c:v>
                </c:pt>
                <c:pt idx="15">
                  <c:v>99.35</c:v>
                </c:pt>
                <c:pt idx="16">
                  <c:v>99.32</c:v>
                </c:pt>
                <c:pt idx="17">
                  <c:v>99.37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AFF7-40ED-ACB6-FEC82CEA364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de-DE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in val="8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de-DE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solidFill>
      <a:srgbClr val="FAFBF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37E"/>
                </a:solidFill>
                <a:latin typeface="Arial"/>
              </a:defRPr>
            </a:pPr>
            <a:r>
              <a:rPr lang="de-DE" sz="1300" b="0" i="0" u="none" strike="noStrike">
                <a:solidFill>
                  <a:srgbClr val="1A237E"/>
                </a:solidFill>
                <a:latin typeface="Arial"/>
              </a:rPr>
              <a:t>Loss per Epoch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Train Loss</c:v>
                </c:pt>
              </c:strCache>
            </c:strRef>
          </c:tx>
          <c:spPr>
            <a:ln w="31750" cap="flat">
              <a:solidFill>
                <a:srgbClr val="FF6F00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FF6F00"/>
              </a:solidFill>
              <a:ln w="9525" cap="flat">
                <a:solidFill>
                  <a:srgbClr val="FF6F00"/>
                </a:solidFill>
                <a:prstDash val="solid"/>
                <a:round/>
              </a:ln>
              <a:effectLst/>
            </c:spPr>
          </c:marker>
          <c:cat>
            <c:strRef>
              <c:f>Sheet1!$A$2:$A$19</c:f>
              <c:strCache>
                <c:ptCount val="18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</c:strCache>
            </c: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0.53979999999999995</c:v>
                </c:pt>
                <c:pt idx="1">
                  <c:v>0.16420000000000001</c:v>
                </c:pt>
                <c:pt idx="2">
                  <c:v>0.1226</c:v>
                </c:pt>
                <c:pt idx="3">
                  <c:v>0.1003</c:v>
                </c:pt>
                <c:pt idx="4">
                  <c:v>8.8599999999999998E-2</c:v>
                </c:pt>
                <c:pt idx="5">
                  <c:v>8.09E-2</c:v>
                </c:pt>
                <c:pt idx="6">
                  <c:v>6.4299999999999996E-2</c:v>
                </c:pt>
                <c:pt idx="7">
                  <c:v>6.0499999999999998E-2</c:v>
                </c:pt>
                <c:pt idx="8">
                  <c:v>6.0100000000000001E-2</c:v>
                </c:pt>
                <c:pt idx="9">
                  <c:v>5.7799999999999997E-2</c:v>
                </c:pt>
                <c:pt idx="10">
                  <c:v>5.1299999999999998E-2</c:v>
                </c:pt>
                <c:pt idx="11">
                  <c:v>4.6800000000000001E-2</c:v>
                </c:pt>
                <c:pt idx="12">
                  <c:v>4.4299999999999999E-2</c:v>
                </c:pt>
                <c:pt idx="13">
                  <c:v>4.2799999999999998E-2</c:v>
                </c:pt>
                <c:pt idx="14">
                  <c:v>4.1799999999999997E-2</c:v>
                </c:pt>
                <c:pt idx="15">
                  <c:v>4.19E-2</c:v>
                </c:pt>
                <c:pt idx="16">
                  <c:v>4.0500000000000001E-2</c:v>
                </c:pt>
                <c:pt idx="17">
                  <c:v>3.9100000000000003E-2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4183-4D45-BC64-6D3F3CEF75B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 Loss</c:v>
                </c:pt>
              </c:strCache>
            </c:strRef>
          </c:tx>
          <c:spPr>
            <a:ln w="31750" cap="flat">
              <a:solidFill>
                <a:srgbClr val="C6282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cat>
            <c:strRef>
              <c:f>Sheet1!$A$2:$A$19</c:f>
              <c:strCache>
                <c:ptCount val="18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</c:strCache>
            </c: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0.51049999999999995</c:v>
                </c:pt>
                <c:pt idx="1">
                  <c:v>5.5300000000000002E-2</c:v>
                </c:pt>
                <c:pt idx="2">
                  <c:v>4.8399999999999999E-2</c:v>
                </c:pt>
                <c:pt idx="3">
                  <c:v>2.6800000000000001E-2</c:v>
                </c:pt>
                <c:pt idx="4">
                  <c:v>3.09E-2</c:v>
                </c:pt>
                <c:pt idx="5">
                  <c:v>2.9100000000000001E-2</c:v>
                </c:pt>
                <c:pt idx="6">
                  <c:v>2.7400000000000001E-2</c:v>
                </c:pt>
                <c:pt idx="7">
                  <c:v>2.1499999999999998E-2</c:v>
                </c:pt>
                <c:pt idx="8">
                  <c:v>2.3699999999999999E-2</c:v>
                </c:pt>
                <c:pt idx="9">
                  <c:v>2.2800000000000001E-2</c:v>
                </c:pt>
                <c:pt idx="10">
                  <c:v>2.2100000000000002E-2</c:v>
                </c:pt>
                <c:pt idx="11">
                  <c:v>2.2800000000000001E-2</c:v>
                </c:pt>
                <c:pt idx="12">
                  <c:v>1.8599999999999998E-2</c:v>
                </c:pt>
                <c:pt idx="13">
                  <c:v>1.9199999999999998E-2</c:v>
                </c:pt>
                <c:pt idx="14">
                  <c:v>1.7899999999999999E-2</c:v>
                </c:pt>
                <c:pt idx="15">
                  <c:v>2.01E-2</c:v>
                </c:pt>
                <c:pt idx="16">
                  <c:v>1.9599999999999999E-2</c:v>
                </c:pt>
                <c:pt idx="17">
                  <c:v>1.7600000000000001E-2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4183-4D45-BC64-6D3F3CEF75B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de-DE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de-DE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solidFill>
      <a:srgbClr val="FAFBFC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392908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8988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494" algn="l" defTabSz="1218988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8988" algn="l" defTabSz="1218988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484" algn="l" defTabSz="1218988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7978" algn="l" defTabSz="1218988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7472" algn="l" defTabSz="1218988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6" algn="l" defTabSz="1218988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61" algn="l" defTabSz="1218988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55" algn="l" defTabSz="1218988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9097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52519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82953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4020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519091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517881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64404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892742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98352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3484654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9291097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1924523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5/31/2026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9312559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5/31/2026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1593898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5/31/2026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9165844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5/31/2026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6552192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5/31/2026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7554237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5/31/2026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678315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3129232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6918135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633396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5/31/2026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65038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4" Type="http://schemas.openxmlformats.org/officeDocument/2006/relationships/chart" Target="../charts/char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9.jpe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BCD4"/>
          </a:solidFill>
          <a:ln/>
        </p:spPr>
        <p:txBody>
          <a:bodyPr/>
          <a:lstStyle/>
          <a:p>
            <a:endParaRPr lang="en-GB" sz="3803"/>
          </a:p>
        </p:txBody>
      </p:sp>
      <p:sp>
        <p:nvSpPr>
          <p:cNvPr id="3" name="Shape 1"/>
          <p:cNvSpPr/>
          <p:nvPr/>
        </p:nvSpPr>
        <p:spPr>
          <a:xfrm>
            <a:off x="9144000" y="-975360"/>
            <a:ext cx="4876800" cy="4876800"/>
          </a:xfrm>
          <a:prstGeom prst="ellipse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GB" sz="3803"/>
          </a:p>
        </p:txBody>
      </p:sp>
      <p:sp>
        <p:nvSpPr>
          <p:cNvPr id="4" name="Shape 2"/>
          <p:cNvSpPr/>
          <p:nvPr/>
        </p:nvSpPr>
        <p:spPr>
          <a:xfrm>
            <a:off x="9753600" y="-365760"/>
            <a:ext cx="3657600" cy="3657600"/>
          </a:xfrm>
          <a:prstGeom prst="ellipse">
            <a:avLst/>
          </a:prstGeom>
          <a:solidFill>
            <a:srgbClr val="162B47"/>
          </a:solidFill>
          <a:ln w="12700">
            <a:solidFill>
              <a:srgbClr val="162B47"/>
            </a:solidFill>
            <a:prstDash val="solid"/>
          </a:ln>
        </p:spPr>
        <p:txBody>
          <a:bodyPr/>
          <a:lstStyle/>
          <a:p>
            <a:endParaRPr lang="en-GB" sz="3803"/>
          </a:p>
        </p:txBody>
      </p:sp>
      <p:sp>
        <p:nvSpPr>
          <p:cNvPr id="5" name="Shape 3"/>
          <p:cNvSpPr/>
          <p:nvPr/>
        </p:nvSpPr>
        <p:spPr>
          <a:xfrm>
            <a:off x="9265920" y="1828800"/>
            <a:ext cx="487680" cy="487680"/>
          </a:xfrm>
          <a:prstGeom prst="rect">
            <a:avLst/>
          </a:prstGeom>
          <a:solidFill>
            <a:srgbClr val="1565C0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GB" sz="3803"/>
          </a:p>
        </p:txBody>
      </p:sp>
      <p:sp>
        <p:nvSpPr>
          <p:cNvPr id="6" name="Shape 4"/>
          <p:cNvSpPr/>
          <p:nvPr/>
        </p:nvSpPr>
        <p:spPr>
          <a:xfrm>
            <a:off x="9814560" y="1828800"/>
            <a:ext cx="487680" cy="487680"/>
          </a:xfrm>
          <a:prstGeom prst="rect">
            <a:avLst/>
          </a:prstGeom>
          <a:solidFill>
            <a:srgbClr val="00BCD4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GB" sz="3803"/>
          </a:p>
        </p:txBody>
      </p:sp>
      <p:sp>
        <p:nvSpPr>
          <p:cNvPr id="7" name="Shape 5"/>
          <p:cNvSpPr/>
          <p:nvPr/>
        </p:nvSpPr>
        <p:spPr>
          <a:xfrm>
            <a:off x="10363200" y="1828800"/>
            <a:ext cx="487680" cy="487680"/>
          </a:xfrm>
          <a:prstGeom prst="rect">
            <a:avLst/>
          </a:prstGeom>
          <a:solidFill>
            <a:srgbClr val="00897B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GB" sz="3803"/>
          </a:p>
        </p:txBody>
      </p:sp>
      <p:sp>
        <p:nvSpPr>
          <p:cNvPr id="8" name="Shape 6"/>
          <p:cNvSpPr/>
          <p:nvPr/>
        </p:nvSpPr>
        <p:spPr>
          <a:xfrm>
            <a:off x="9265920" y="2377440"/>
            <a:ext cx="487680" cy="487680"/>
          </a:xfrm>
          <a:prstGeom prst="rect">
            <a:avLst/>
          </a:prstGeom>
          <a:solidFill>
            <a:srgbClr val="1565C0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GB" sz="3803"/>
          </a:p>
        </p:txBody>
      </p:sp>
      <p:sp>
        <p:nvSpPr>
          <p:cNvPr id="9" name="Shape 7"/>
          <p:cNvSpPr/>
          <p:nvPr/>
        </p:nvSpPr>
        <p:spPr>
          <a:xfrm>
            <a:off x="9814560" y="2377440"/>
            <a:ext cx="487680" cy="487680"/>
          </a:xfrm>
          <a:prstGeom prst="rect">
            <a:avLst/>
          </a:prstGeom>
          <a:solidFill>
            <a:srgbClr val="00BCD4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GB" sz="3803"/>
          </a:p>
        </p:txBody>
      </p:sp>
      <p:sp>
        <p:nvSpPr>
          <p:cNvPr id="10" name="Shape 8"/>
          <p:cNvSpPr/>
          <p:nvPr/>
        </p:nvSpPr>
        <p:spPr>
          <a:xfrm>
            <a:off x="10363200" y="2377440"/>
            <a:ext cx="487680" cy="487680"/>
          </a:xfrm>
          <a:prstGeom prst="rect">
            <a:avLst/>
          </a:prstGeom>
          <a:solidFill>
            <a:srgbClr val="00897B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GB" sz="3803"/>
          </a:p>
        </p:txBody>
      </p:sp>
      <p:sp>
        <p:nvSpPr>
          <p:cNvPr id="11" name="Shape 9"/>
          <p:cNvSpPr/>
          <p:nvPr/>
        </p:nvSpPr>
        <p:spPr>
          <a:xfrm>
            <a:off x="9265920" y="2926080"/>
            <a:ext cx="487680" cy="487680"/>
          </a:xfrm>
          <a:prstGeom prst="rect">
            <a:avLst/>
          </a:prstGeom>
          <a:solidFill>
            <a:srgbClr val="1565C0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GB" sz="3803"/>
          </a:p>
        </p:txBody>
      </p:sp>
      <p:sp>
        <p:nvSpPr>
          <p:cNvPr id="12" name="Shape 10"/>
          <p:cNvSpPr/>
          <p:nvPr/>
        </p:nvSpPr>
        <p:spPr>
          <a:xfrm>
            <a:off x="9814560" y="2926080"/>
            <a:ext cx="487680" cy="487680"/>
          </a:xfrm>
          <a:prstGeom prst="rect">
            <a:avLst/>
          </a:prstGeom>
          <a:solidFill>
            <a:srgbClr val="00BCD4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GB" sz="3803"/>
          </a:p>
        </p:txBody>
      </p:sp>
      <p:sp>
        <p:nvSpPr>
          <p:cNvPr id="13" name="Shape 11"/>
          <p:cNvSpPr/>
          <p:nvPr/>
        </p:nvSpPr>
        <p:spPr>
          <a:xfrm>
            <a:off x="10363200" y="2926080"/>
            <a:ext cx="487680" cy="487680"/>
          </a:xfrm>
          <a:prstGeom prst="rect">
            <a:avLst/>
          </a:prstGeom>
          <a:solidFill>
            <a:srgbClr val="00897B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GB" sz="3803"/>
          </a:p>
        </p:txBody>
      </p:sp>
      <p:sp>
        <p:nvSpPr>
          <p:cNvPr id="15" name="Text 13"/>
          <p:cNvSpPr/>
          <p:nvPr/>
        </p:nvSpPr>
        <p:spPr>
          <a:xfrm>
            <a:off x="365760" y="1889760"/>
            <a:ext cx="8534400" cy="121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5333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· Training · Evaluation</a:t>
            </a:r>
            <a:endParaRPr lang="en-US" sz="5333" dirty="0"/>
          </a:p>
          <a:p>
            <a:endParaRPr lang="en-US" sz="5333" dirty="0"/>
          </a:p>
        </p:txBody>
      </p:sp>
      <p:sp>
        <p:nvSpPr>
          <p:cNvPr id="17" name="Shape 15"/>
          <p:cNvSpPr/>
          <p:nvPr/>
        </p:nvSpPr>
        <p:spPr>
          <a:xfrm>
            <a:off x="365760" y="4267200"/>
            <a:ext cx="2560320" cy="1463040"/>
          </a:xfrm>
          <a:prstGeom prst="rect">
            <a:avLst/>
          </a:prstGeom>
          <a:solidFill>
            <a:srgbClr val="132038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GB" sz="3803"/>
          </a:p>
        </p:txBody>
      </p:sp>
      <p:sp>
        <p:nvSpPr>
          <p:cNvPr id="18" name="Text 16"/>
          <p:cNvSpPr/>
          <p:nvPr/>
        </p:nvSpPr>
        <p:spPr>
          <a:xfrm>
            <a:off x="365760" y="4364736"/>
            <a:ext cx="2560320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32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365760" y="4998720"/>
            <a:ext cx="2560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</a:t>
            </a:r>
            <a:endParaRPr lang="en-US" sz="1467" dirty="0"/>
          </a:p>
        </p:txBody>
      </p:sp>
      <p:sp>
        <p:nvSpPr>
          <p:cNvPr id="23" name="Shape 21"/>
          <p:cNvSpPr/>
          <p:nvPr/>
        </p:nvSpPr>
        <p:spPr>
          <a:xfrm>
            <a:off x="4266520" y="4263109"/>
            <a:ext cx="2560320" cy="1463040"/>
          </a:xfrm>
          <a:prstGeom prst="rect">
            <a:avLst/>
          </a:prstGeom>
          <a:solidFill>
            <a:srgbClr val="132038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GB" sz="3803"/>
          </a:p>
        </p:txBody>
      </p:sp>
      <p:sp>
        <p:nvSpPr>
          <p:cNvPr id="24" name="Text 22"/>
          <p:cNvSpPr/>
          <p:nvPr/>
        </p:nvSpPr>
        <p:spPr>
          <a:xfrm>
            <a:off x="4327480" y="4371609"/>
            <a:ext cx="2560320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32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177K</a:t>
            </a:r>
            <a:endParaRPr lang="en-US" sz="3200" dirty="0"/>
          </a:p>
        </p:txBody>
      </p:sp>
      <p:sp>
        <p:nvSpPr>
          <p:cNvPr id="25" name="Text 23"/>
          <p:cNvSpPr/>
          <p:nvPr/>
        </p:nvSpPr>
        <p:spPr>
          <a:xfrm>
            <a:off x="4307160" y="4998720"/>
            <a:ext cx="2560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Params</a:t>
            </a:r>
            <a:endParaRPr lang="en-US" sz="1467" dirty="0"/>
          </a:p>
        </p:txBody>
      </p:sp>
      <p:sp>
        <p:nvSpPr>
          <p:cNvPr id="29" name="Shape 21">
            <a:extLst>
              <a:ext uri="{FF2B5EF4-FFF2-40B4-BE49-F238E27FC236}">
                <a16:creationId xmlns:a16="http://schemas.microsoft.com/office/drawing/2014/main" id="{0C23F732-4217-8C6F-6A93-A1035A1FB762}"/>
              </a:ext>
            </a:extLst>
          </p:cNvPr>
          <p:cNvSpPr/>
          <p:nvPr/>
        </p:nvSpPr>
        <p:spPr>
          <a:xfrm>
            <a:off x="9022080" y="4267200"/>
            <a:ext cx="2560320" cy="1463040"/>
          </a:xfrm>
          <a:prstGeom prst="rect">
            <a:avLst/>
          </a:prstGeom>
          <a:solidFill>
            <a:srgbClr val="132038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GB" sz="3803"/>
          </a:p>
        </p:txBody>
      </p:sp>
      <p:sp>
        <p:nvSpPr>
          <p:cNvPr id="30" name="Text 22">
            <a:extLst>
              <a:ext uri="{FF2B5EF4-FFF2-40B4-BE49-F238E27FC236}">
                <a16:creationId xmlns:a16="http://schemas.microsoft.com/office/drawing/2014/main" id="{CDB1A70F-4301-310A-6460-233DC671CCC1}"/>
              </a:ext>
            </a:extLst>
          </p:cNvPr>
          <p:cNvSpPr/>
          <p:nvPr/>
        </p:nvSpPr>
        <p:spPr>
          <a:xfrm>
            <a:off x="9083040" y="4351808"/>
            <a:ext cx="2560320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32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64192</a:t>
            </a:r>
            <a:endParaRPr lang="en-US" sz="3200" dirty="0"/>
          </a:p>
        </p:txBody>
      </p:sp>
      <p:sp>
        <p:nvSpPr>
          <p:cNvPr id="31" name="Text 23">
            <a:extLst>
              <a:ext uri="{FF2B5EF4-FFF2-40B4-BE49-F238E27FC236}">
                <a16:creationId xmlns:a16="http://schemas.microsoft.com/office/drawing/2014/main" id="{C6A23349-D968-C17B-E29A-E7CCCE8A4B5A}"/>
              </a:ext>
            </a:extLst>
          </p:cNvPr>
          <p:cNvSpPr/>
          <p:nvPr/>
        </p:nvSpPr>
        <p:spPr>
          <a:xfrm>
            <a:off x="8981440" y="4998720"/>
            <a:ext cx="2560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Samples</a:t>
            </a:r>
            <a:endParaRPr lang="en-US" sz="1467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1A237E"/>
          </a:solidFill>
          <a:ln/>
        </p:spPr>
        <p:txBody>
          <a:bodyPr/>
          <a:lstStyle/>
          <a:p>
            <a:endParaRPr lang="en-GB" sz="3803"/>
          </a:p>
        </p:txBody>
      </p:sp>
      <p:sp>
        <p:nvSpPr>
          <p:cNvPr id="3" name="Text 1"/>
          <p:cNvSpPr/>
          <p:nvPr/>
        </p:nvSpPr>
        <p:spPr>
          <a:xfrm>
            <a:off x="365760" y="121920"/>
            <a:ext cx="11460480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6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&amp; Problem Setup</a:t>
            </a:r>
            <a:endParaRPr lang="en-US" sz="2667" dirty="0"/>
          </a:p>
        </p:txBody>
      </p:sp>
      <p:sp>
        <p:nvSpPr>
          <p:cNvPr id="4" name="Shape 2"/>
          <p:cNvSpPr/>
          <p:nvPr/>
        </p:nvSpPr>
        <p:spPr>
          <a:xfrm>
            <a:off x="2917377" y="1236505"/>
            <a:ext cx="5860868" cy="4911747"/>
          </a:xfrm>
          <a:prstGeom prst="rect">
            <a:avLst/>
          </a:prstGeom>
          <a:solidFill>
            <a:srgbClr val="E8EDF2"/>
          </a:solidFill>
          <a:ln w="12700">
            <a:solidFill>
              <a:srgbClr val="CFD8DC"/>
            </a:solidFill>
            <a:prstDash val="solid"/>
          </a:ln>
        </p:spPr>
        <p:txBody>
          <a:bodyPr/>
          <a:lstStyle/>
          <a:p>
            <a:endParaRPr lang="en-GB" sz="3803"/>
          </a:p>
        </p:txBody>
      </p:sp>
      <p:sp>
        <p:nvSpPr>
          <p:cNvPr id="5" name="Text 3"/>
          <p:cNvSpPr/>
          <p:nvPr/>
        </p:nvSpPr>
        <p:spPr>
          <a:xfrm>
            <a:off x="3229144" y="1144779"/>
            <a:ext cx="524256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1467" dirty="0"/>
          </a:p>
        </p:txBody>
      </p:sp>
      <p:sp>
        <p:nvSpPr>
          <p:cNvPr id="6" name="Shape 4"/>
          <p:cNvSpPr/>
          <p:nvPr/>
        </p:nvSpPr>
        <p:spPr>
          <a:xfrm>
            <a:off x="3450213" y="1571213"/>
            <a:ext cx="2194560" cy="2194560"/>
          </a:xfrm>
          <a:prstGeom prst="rect">
            <a:avLst/>
          </a:prstGeom>
          <a:solidFill>
            <a:srgbClr val="0D1B2A"/>
          </a:solidFill>
          <a:ln w="254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GB" sz="3803"/>
          </a:p>
        </p:txBody>
      </p:sp>
      <p:sp>
        <p:nvSpPr>
          <p:cNvPr id="7" name="Text 5"/>
          <p:cNvSpPr/>
          <p:nvPr/>
        </p:nvSpPr>
        <p:spPr>
          <a:xfrm>
            <a:off x="3286931" y="1633565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MNIST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33216" y="2218944"/>
            <a:ext cx="463296" cy="280416"/>
          </a:xfrm>
          <a:prstGeom prst="rect">
            <a:avLst/>
          </a:prstGeom>
          <a:solidFill>
            <a:srgbClr val="1565C0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GB" sz="3803"/>
          </a:p>
        </p:txBody>
      </p:sp>
      <p:sp>
        <p:nvSpPr>
          <p:cNvPr id="9" name="Shape 7"/>
          <p:cNvSpPr/>
          <p:nvPr/>
        </p:nvSpPr>
        <p:spPr>
          <a:xfrm>
            <a:off x="4279515" y="2229704"/>
            <a:ext cx="463296" cy="280416"/>
          </a:xfrm>
          <a:prstGeom prst="rect">
            <a:avLst/>
          </a:prstGeom>
          <a:solidFill>
            <a:srgbClr val="FFFFFF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GB" sz="3803"/>
          </a:p>
        </p:txBody>
      </p:sp>
      <p:sp>
        <p:nvSpPr>
          <p:cNvPr id="10" name="Shape 8"/>
          <p:cNvSpPr/>
          <p:nvPr/>
        </p:nvSpPr>
        <p:spPr>
          <a:xfrm>
            <a:off x="4860557" y="2231300"/>
            <a:ext cx="463296" cy="280416"/>
          </a:xfrm>
          <a:prstGeom prst="rect">
            <a:avLst/>
          </a:prstGeom>
          <a:solidFill>
            <a:srgbClr val="1565C0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GB" sz="3803"/>
          </a:p>
        </p:txBody>
      </p:sp>
      <p:sp>
        <p:nvSpPr>
          <p:cNvPr id="11" name="Shape 9"/>
          <p:cNvSpPr/>
          <p:nvPr/>
        </p:nvSpPr>
        <p:spPr>
          <a:xfrm>
            <a:off x="3666355" y="2621280"/>
            <a:ext cx="463296" cy="280416"/>
          </a:xfrm>
          <a:prstGeom prst="rect">
            <a:avLst/>
          </a:prstGeom>
          <a:solidFill>
            <a:srgbClr val="FFFFFF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GB" sz="3803"/>
          </a:p>
        </p:txBody>
      </p:sp>
      <p:sp>
        <p:nvSpPr>
          <p:cNvPr id="12" name="Shape 10"/>
          <p:cNvSpPr/>
          <p:nvPr/>
        </p:nvSpPr>
        <p:spPr>
          <a:xfrm>
            <a:off x="4279515" y="2588385"/>
            <a:ext cx="463296" cy="280416"/>
          </a:xfrm>
          <a:prstGeom prst="rect">
            <a:avLst/>
          </a:prstGeom>
          <a:solidFill>
            <a:srgbClr val="00BCD4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GB" sz="3803"/>
          </a:p>
        </p:txBody>
      </p:sp>
      <p:sp>
        <p:nvSpPr>
          <p:cNvPr id="13" name="Shape 11"/>
          <p:cNvSpPr/>
          <p:nvPr/>
        </p:nvSpPr>
        <p:spPr>
          <a:xfrm>
            <a:off x="4846320" y="2621280"/>
            <a:ext cx="463296" cy="280416"/>
          </a:xfrm>
          <a:prstGeom prst="rect">
            <a:avLst/>
          </a:prstGeom>
          <a:solidFill>
            <a:srgbClr val="FFFFFF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GB" sz="3803"/>
          </a:p>
        </p:txBody>
      </p:sp>
      <p:sp>
        <p:nvSpPr>
          <p:cNvPr id="14" name="Shape 12"/>
          <p:cNvSpPr/>
          <p:nvPr/>
        </p:nvSpPr>
        <p:spPr>
          <a:xfrm>
            <a:off x="3676011" y="3037159"/>
            <a:ext cx="463296" cy="280416"/>
          </a:xfrm>
          <a:prstGeom prst="rect">
            <a:avLst/>
          </a:prstGeom>
          <a:solidFill>
            <a:srgbClr val="1565C0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GB" sz="3803"/>
          </a:p>
        </p:txBody>
      </p:sp>
      <p:sp>
        <p:nvSpPr>
          <p:cNvPr id="15" name="Shape 13"/>
          <p:cNvSpPr/>
          <p:nvPr/>
        </p:nvSpPr>
        <p:spPr>
          <a:xfrm>
            <a:off x="4279515" y="3032371"/>
            <a:ext cx="463296" cy="280416"/>
          </a:xfrm>
          <a:prstGeom prst="rect">
            <a:avLst/>
          </a:prstGeom>
          <a:solidFill>
            <a:srgbClr val="FFFFFF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GB" sz="3803"/>
          </a:p>
        </p:txBody>
      </p:sp>
      <p:sp>
        <p:nvSpPr>
          <p:cNvPr id="16" name="Shape 14"/>
          <p:cNvSpPr/>
          <p:nvPr/>
        </p:nvSpPr>
        <p:spPr>
          <a:xfrm>
            <a:off x="4846320" y="3018523"/>
            <a:ext cx="463296" cy="280416"/>
          </a:xfrm>
          <a:prstGeom prst="rect">
            <a:avLst/>
          </a:prstGeom>
          <a:solidFill>
            <a:srgbClr val="1565C0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de-DE" sz="3803" dirty="0"/>
          </a:p>
        </p:txBody>
      </p:sp>
      <p:sp>
        <p:nvSpPr>
          <p:cNvPr id="17" name="Text 15"/>
          <p:cNvSpPr/>
          <p:nvPr/>
        </p:nvSpPr>
        <p:spPr>
          <a:xfrm>
            <a:off x="609600" y="3352800"/>
            <a:ext cx="2194560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60,000 images</a:t>
            </a:r>
            <a:endParaRPr lang="en-US" sz="1133" dirty="0"/>
          </a:p>
          <a:p>
            <a:pPr algn="ctr"/>
            <a:r>
              <a:rPr lang="en-US" sz="1133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28×28 px</a:t>
            </a:r>
            <a:endParaRPr lang="en-US" sz="1133" dirty="0"/>
          </a:p>
          <a:p>
            <a:pPr algn="ctr"/>
            <a:r>
              <a:rPr lang="en-US" sz="1133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Digits 0–9</a:t>
            </a:r>
            <a:endParaRPr lang="en-US" sz="1133" dirty="0"/>
          </a:p>
        </p:txBody>
      </p:sp>
      <p:sp>
        <p:nvSpPr>
          <p:cNvPr id="18" name="Shape 16"/>
          <p:cNvSpPr/>
          <p:nvPr/>
        </p:nvSpPr>
        <p:spPr>
          <a:xfrm>
            <a:off x="6021948" y="1571213"/>
            <a:ext cx="2194560" cy="2194560"/>
          </a:xfrm>
          <a:prstGeom prst="rect">
            <a:avLst/>
          </a:prstGeom>
          <a:solidFill>
            <a:srgbClr val="1A2744"/>
          </a:solidFill>
          <a:ln w="25400">
            <a:solidFill>
              <a:srgbClr val="00BCD4"/>
            </a:solidFill>
            <a:prstDash val="solid"/>
          </a:ln>
        </p:spPr>
        <p:txBody>
          <a:bodyPr/>
          <a:lstStyle/>
          <a:p>
            <a:endParaRPr lang="en-GB" sz="3803"/>
          </a:p>
        </p:txBody>
      </p:sp>
      <p:sp>
        <p:nvSpPr>
          <p:cNvPr id="19" name="Text 17"/>
          <p:cNvSpPr/>
          <p:nvPr/>
        </p:nvSpPr>
        <p:spPr>
          <a:xfrm>
            <a:off x="6021948" y="164592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OPS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57552" y="2188464"/>
            <a:ext cx="670560" cy="548640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BCD4"/>
            </a:solidFill>
            <a:prstDash val="solid"/>
          </a:ln>
        </p:spPr>
        <p:txBody>
          <a:bodyPr/>
          <a:lstStyle/>
          <a:p>
            <a:endParaRPr lang="en-GB" sz="3803"/>
          </a:p>
        </p:txBody>
      </p:sp>
      <p:sp>
        <p:nvSpPr>
          <p:cNvPr id="21" name="Text 19"/>
          <p:cNvSpPr/>
          <p:nvPr/>
        </p:nvSpPr>
        <p:spPr>
          <a:xfrm>
            <a:off x="6263051" y="2188464"/>
            <a:ext cx="670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13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133" dirty="0"/>
          </a:p>
        </p:txBody>
      </p:sp>
      <p:sp>
        <p:nvSpPr>
          <p:cNvPr id="28" name="Text 26"/>
          <p:cNvSpPr/>
          <p:nvPr/>
        </p:nvSpPr>
        <p:spPr>
          <a:xfrm>
            <a:off x="3092493" y="3201523"/>
            <a:ext cx="2804160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~490 images/op</a:t>
            </a:r>
            <a:r>
              <a:rPr lang="en-US" sz="1133" dirty="0"/>
              <a:t> </a:t>
            </a:r>
            <a:r>
              <a:rPr lang="en-US" sz="1133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operators</a:t>
            </a:r>
            <a:endParaRPr lang="en-US" sz="1133" dirty="0"/>
          </a:p>
        </p:txBody>
      </p:sp>
      <p:sp>
        <p:nvSpPr>
          <p:cNvPr id="29" name="Text 27"/>
          <p:cNvSpPr/>
          <p:nvPr/>
        </p:nvSpPr>
        <p:spPr>
          <a:xfrm>
            <a:off x="3360164" y="3982569"/>
            <a:ext cx="512064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333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14 Classes  |  Balanced via augmentation</a:t>
            </a:r>
            <a:endParaRPr lang="en-US" sz="1333" dirty="0"/>
          </a:p>
        </p:txBody>
      </p:sp>
      <p:sp>
        <p:nvSpPr>
          <p:cNvPr id="30" name="Shape 28"/>
          <p:cNvSpPr/>
          <p:nvPr/>
        </p:nvSpPr>
        <p:spPr>
          <a:xfrm>
            <a:off x="3450217" y="4546469"/>
            <a:ext cx="2153196" cy="548640"/>
          </a:xfrm>
          <a:prstGeom prst="rect">
            <a:avLst/>
          </a:prstGeom>
          <a:solidFill>
            <a:srgbClr val="E3F2FD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GB" sz="3803"/>
          </a:p>
        </p:txBody>
      </p:sp>
      <p:sp>
        <p:nvSpPr>
          <p:cNvPr id="31" name="Text 29"/>
          <p:cNvSpPr/>
          <p:nvPr/>
        </p:nvSpPr>
        <p:spPr>
          <a:xfrm>
            <a:off x="3429593" y="4556697"/>
            <a:ext cx="2316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28×28: Grayscale input</a:t>
            </a:r>
            <a:endParaRPr lang="en-US" sz="1267" dirty="0"/>
          </a:p>
        </p:txBody>
      </p:sp>
      <p:sp>
        <p:nvSpPr>
          <p:cNvPr id="32" name="Shape 30"/>
          <p:cNvSpPr/>
          <p:nvPr/>
        </p:nvSpPr>
        <p:spPr>
          <a:xfrm>
            <a:off x="6113410" y="4556697"/>
            <a:ext cx="2103103" cy="548640"/>
          </a:xfrm>
          <a:prstGeom prst="rect">
            <a:avLst/>
          </a:prstGeom>
          <a:solidFill>
            <a:srgbClr val="E0F7FA"/>
          </a:solidFill>
          <a:ln w="12700">
            <a:solidFill>
              <a:srgbClr val="00BCD4"/>
            </a:solidFill>
            <a:prstDash val="solid"/>
          </a:ln>
        </p:spPr>
        <p:txBody>
          <a:bodyPr/>
          <a:lstStyle/>
          <a:p>
            <a:endParaRPr lang="en-GB" sz="3803"/>
          </a:p>
        </p:txBody>
      </p:sp>
      <p:sp>
        <p:nvSpPr>
          <p:cNvPr id="33" name="Text 31"/>
          <p:cNvSpPr/>
          <p:nvPr/>
        </p:nvSpPr>
        <p:spPr>
          <a:xfrm>
            <a:off x="6271901" y="4556697"/>
            <a:ext cx="20186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Normalize: Pixel ÷ 255</a:t>
            </a:r>
            <a:endParaRPr lang="en-US" sz="1267" dirty="0"/>
          </a:p>
        </p:txBody>
      </p:sp>
      <p:sp>
        <p:nvSpPr>
          <p:cNvPr id="34" name="Shape 32"/>
          <p:cNvSpPr/>
          <p:nvPr/>
        </p:nvSpPr>
        <p:spPr>
          <a:xfrm>
            <a:off x="3450217" y="5299407"/>
            <a:ext cx="2153196" cy="548640"/>
          </a:xfrm>
          <a:prstGeom prst="rect">
            <a:avLst/>
          </a:prstGeom>
          <a:solidFill>
            <a:srgbClr val="E3F2FD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GB" sz="3803"/>
          </a:p>
        </p:txBody>
      </p:sp>
      <p:sp>
        <p:nvSpPr>
          <p:cNvPr id="35" name="Text 33"/>
          <p:cNvSpPr/>
          <p:nvPr/>
        </p:nvSpPr>
        <p:spPr>
          <a:xfrm>
            <a:off x="3450213" y="5295725"/>
            <a:ext cx="215810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Elastic: Deform augment</a:t>
            </a:r>
            <a:endParaRPr lang="en-US" sz="1267" dirty="0"/>
          </a:p>
        </p:txBody>
      </p:sp>
      <p:sp>
        <p:nvSpPr>
          <p:cNvPr id="38" name="Shape 18">
            <a:extLst>
              <a:ext uri="{FF2B5EF4-FFF2-40B4-BE49-F238E27FC236}">
                <a16:creationId xmlns:a16="http://schemas.microsoft.com/office/drawing/2014/main" id="{5DF4D4C5-C45C-0A4D-AD95-9B3A4285851B}"/>
              </a:ext>
            </a:extLst>
          </p:cNvPr>
          <p:cNvSpPr/>
          <p:nvPr/>
        </p:nvSpPr>
        <p:spPr>
          <a:xfrm>
            <a:off x="7311632" y="2192688"/>
            <a:ext cx="670560" cy="548640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BCD4"/>
            </a:solidFill>
            <a:prstDash val="solid"/>
          </a:ln>
        </p:spPr>
        <p:txBody>
          <a:bodyPr/>
          <a:lstStyle/>
          <a:p>
            <a:endParaRPr lang="en-GB" sz="3803"/>
          </a:p>
        </p:txBody>
      </p:sp>
      <p:sp>
        <p:nvSpPr>
          <p:cNvPr id="39" name="Shape 18">
            <a:extLst>
              <a:ext uri="{FF2B5EF4-FFF2-40B4-BE49-F238E27FC236}">
                <a16:creationId xmlns:a16="http://schemas.microsoft.com/office/drawing/2014/main" id="{7CCC20E3-99F8-072C-FE76-6A8143F921A7}"/>
              </a:ext>
            </a:extLst>
          </p:cNvPr>
          <p:cNvSpPr/>
          <p:nvPr/>
        </p:nvSpPr>
        <p:spPr>
          <a:xfrm>
            <a:off x="6237924" y="2880288"/>
            <a:ext cx="670560" cy="548640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BCD4"/>
            </a:solidFill>
            <a:prstDash val="solid"/>
          </a:ln>
        </p:spPr>
        <p:txBody>
          <a:bodyPr/>
          <a:lstStyle/>
          <a:p>
            <a:endParaRPr lang="en-GB" sz="3803"/>
          </a:p>
        </p:txBody>
      </p:sp>
      <p:sp>
        <p:nvSpPr>
          <p:cNvPr id="40" name="Shape 18">
            <a:extLst>
              <a:ext uri="{FF2B5EF4-FFF2-40B4-BE49-F238E27FC236}">
                <a16:creationId xmlns:a16="http://schemas.microsoft.com/office/drawing/2014/main" id="{75669328-E76C-C127-8D19-542F71A02415}"/>
              </a:ext>
            </a:extLst>
          </p:cNvPr>
          <p:cNvSpPr/>
          <p:nvPr/>
        </p:nvSpPr>
        <p:spPr>
          <a:xfrm>
            <a:off x="7304595" y="2875616"/>
            <a:ext cx="670560" cy="548640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BCD4"/>
            </a:solidFill>
            <a:prstDash val="solid"/>
          </a:ln>
        </p:spPr>
        <p:txBody>
          <a:bodyPr/>
          <a:lstStyle/>
          <a:p>
            <a:endParaRPr lang="en-GB" sz="3803"/>
          </a:p>
        </p:txBody>
      </p:sp>
      <p:sp>
        <p:nvSpPr>
          <p:cNvPr id="36" name="Shape 34"/>
          <p:cNvSpPr/>
          <p:nvPr/>
        </p:nvSpPr>
        <p:spPr>
          <a:xfrm>
            <a:off x="6113410" y="5304748"/>
            <a:ext cx="2103103" cy="548640"/>
          </a:xfrm>
          <a:prstGeom prst="rect">
            <a:avLst/>
          </a:prstGeom>
          <a:solidFill>
            <a:srgbClr val="E0F7FA"/>
          </a:solidFill>
          <a:ln w="12700">
            <a:solidFill>
              <a:srgbClr val="00BCD4"/>
            </a:solidFill>
            <a:prstDash val="solid"/>
          </a:ln>
        </p:spPr>
        <p:txBody>
          <a:bodyPr/>
          <a:lstStyle/>
          <a:p>
            <a:endParaRPr lang="en-GB" sz="3803"/>
          </a:p>
        </p:txBody>
      </p:sp>
      <p:sp>
        <p:nvSpPr>
          <p:cNvPr id="37" name="Text 35"/>
          <p:cNvSpPr/>
          <p:nvPr/>
        </p:nvSpPr>
        <p:spPr>
          <a:xfrm>
            <a:off x="6235325" y="5286787"/>
            <a:ext cx="2316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Balance: Target per class</a:t>
            </a:r>
            <a:endParaRPr lang="en-US" sz="1267" dirty="0"/>
          </a:p>
        </p:txBody>
      </p:sp>
      <p:sp>
        <p:nvSpPr>
          <p:cNvPr id="41" name="Text 21"/>
          <p:cNvSpPr/>
          <p:nvPr/>
        </p:nvSpPr>
        <p:spPr>
          <a:xfrm>
            <a:off x="7325293" y="2174747"/>
            <a:ext cx="670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13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2133" dirty="0"/>
          </a:p>
        </p:txBody>
      </p:sp>
      <p:sp>
        <p:nvSpPr>
          <p:cNvPr id="42" name="Text 23"/>
          <p:cNvSpPr/>
          <p:nvPr/>
        </p:nvSpPr>
        <p:spPr>
          <a:xfrm>
            <a:off x="6251585" y="2863095"/>
            <a:ext cx="670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13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2133" dirty="0"/>
          </a:p>
        </p:txBody>
      </p:sp>
      <p:sp>
        <p:nvSpPr>
          <p:cNvPr id="43" name="Text 25"/>
          <p:cNvSpPr/>
          <p:nvPr/>
        </p:nvSpPr>
        <p:spPr>
          <a:xfrm>
            <a:off x="7311632" y="2861643"/>
            <a:ext cx="670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13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÷</a:t>
            </a:r>
            <a:endParaRPr lang="en-US" sz="2133" dirty="0"/>
          </a:p>
        </p:txBody>
      </p:sp>
      <p:sp>
        <p:nvSpPr>
          <p:cNvPr id="52" name="Rechteck: abgerundete Ecken 51">
            <a:extLst>
              <a:ext uri="{FF2B5EF4-FFF2-40B4-BE49-F238E27FC236}">
                <a16:creationId xmlns:a16="http://schemas.microsoft.com/office/drawing/2014/main" id="{F5FD7F2F-B66D-DD82-BF86-737FC0F295CF}"/>
              </a:ext>
            </a:extLst>
          </p:cNvPr>
          <p:cNvSpPr/>
          <p:nvPr/>
        </p:nvSpPr>
        <p:spPr>
          <a:xfrm>
            <a:off x="11613255" y="359267"/>
            <a:ext cx="395865" cy="195865"/>
          </a:xfrm>
          <a:prstGeom prst="roundRect">
            <a:avLst>
              <a:gd name="adj" fmla="val 37711"/>
            </a:avLst>
          </a:prstGeom>
          <a:solidFill>
            <a:srgbClr val="605C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/>
              <a:t>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1A237E"/>
          </a:solidFill>
          <a:ln/>
        </p:spPr>
        <p:txBody>
          <a:bodyPr/>
          <a:lstStyle/>
          <a:p>
            <a:endParaRPr lang="en-GB" sz="3803"/>
          </a:p>
        </p:txBody>
      </p:sp>
      <p:sp>
        <p:nvSpPr>
          <p:cNvPr id="3" name="Text 1"/>
          <p:cNvSpPr/>
          <p:nvPr/>
        </p:nvSpPr>
        <p:spPr>
          <a:xfrm>
            <a:off x="365760" y="121920"/>
            <a:ext cx="11460480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6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Convolution Neural Network (CNN) Architecture</a:t>
            </a:r>
            <a:endParaRPr lang="en-US" sz="2667" dirty="0"/>
          </a:p>
        </p:txBody>
      </p:sp>
      <p:sp>
        <p:nvSpPr>
          <p:cNvPr id="6" name="Shape 2"/>
          <p:cNvSpPr/>
          <p:nvPr/>
        </p:nvSpPr>
        <p:spPr>
          <a:xfrm>
            <a:off x="243840" y="5608320"/>
            <a:ext cx="219456" cy="304800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en-GB" sz="3803"/>
          </a:p>
        </p:txBody>
      </p:sp>
      <p:sp>
        <p:nvSpPr>
          <p:cNvPr id="8" name="Shape 4"/>
          <p:cNvSpPr/>
          <p:nvPr/>
        </p:nvSpPr>
        <p:spPr>
          <a:xfrm>
            <a:off x="243840" y="5608320"/>
            <a:ext cx="219456" cy="304800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en-GB" sz="3803"/>
          </a:p>
        </p:txBody>
      </p:sp>
      <p:sp>
        <p:nvSpPr>
          <p:cNvPr id="9" name="Text 5"/>
          <p:cNvSpPr/>
          <p:nvPr/>
        </p:nvSpPr>
        <p:spPr>
          <a:xfrm>
            <a:off x="548640" y="5876544"/>
            <a:ext cx="113385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epoch: 13  (val acc 99.39%,  val loss 0.0186)</a:t>
            </a:r>
            <a:endParaRPr lang="en-US" sz="1333" dirty="0"/>
          </a:p>
        </p:txBody>
      </p:sp>
      <p:sp>
        <p:nvSpPr>
          <p:cNvPr id="10" name="Shape 6"/>
          <p:cNvSpPr/>
          <p:nvPr/>
        </p:nvSpPr>
        <p:spPr>
          <a:xfrm>
            <a:off x="243840" y="5608320"/>
            <a:ext cx="219456" cy="304800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en-GB" sz="3803"/>
          </a:p>
        </p:txBody>
      </p:sp>
      <p:sp>
        <p:nvSpPr>
          <p:cNvPr id="12" name="Shape 8"/>
          <p:cNvSpPr/>
          <p:nvPr/>
        </p:nvSpPr>
        <p:spPr>
          <a:xfrm>
            <a:off x="243840" y="5608320"/>
            <a:ext cx="219456" cy="304800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en-GB" sz="3803"/>
          </a:p>
        </p:txBody>
      </p:sp>
      <p:sp>
        <p:nvSpPr>
          <p:cNvPr id="13" name="Text 9"/>
          <p:cNvSpPr/>
          <p:nvPr/>
        </p:nvSpPr>
        <p:spPr>
          <a:xfrm>
            <a:off x="548640" y="6534912"/>
            <a:ext cx="113385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ReduceLROnPlateau halved LR at epochs 6 / 10 / 12 / 17</a:t>
            </a:r>
            <a:endParaRPr lang="en-US" sz="1333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470D5B31-D48A-A0E5-913F-29F6CD2F74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88" y="914400"/>
            <a:ext cx="12155213" cy="5943600"/>
          </a:xfrm>
          <a:prstGeom prst="rect">
            <a:avLst/>
          </a:prstGeom>
        </p:spPr>
      </p:pic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11CB879A-3B9F-E28B-EB32-E13BFC3DDD7F}"/>
              </a:ext>
            </a:extLst>
          </p:cNvPr>
          <p:cNvSpPr/>
          <p:nvPr/>
        </p:nvSpPr>
        <p:spPr>
          <a:xfrm>
            <a:off x="11613255" y="359267"/>
            <a:ext cx="395865" cy="195865"/>
          </a:xfrm>
          <a:prstGeom prst="roundRect">
            <a:avLst>
              <a:gd name="adj" fmla="val 37711"/>
            </a:avLst>
          </a:prstGeom>
          <a:solidFill>
            <a:srgbClr val="605C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 dirty="0"/>
              <a:t>1</a:t>
            </a:r>
            <a:r>
              <a:rPr lang="en-GB" sz="1200" b="1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40906324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1A237E"/>
          </a:solidFill>
          <a:ln/>
        </p:spPr>
        <p:txBody>
          <a:bodyPr/>
          <a:lstStyle/>
          <a:p>
            <a:endParaRPr lang="en-GB" sz="3803"/>
          </a:p>
        </p:txBody>
      </p:sp>
      <p:sp>
        <p:nvSpPr>
          <p:cNvPr id="3" name="Text 1"/>
          <p:cNvSpPr/>
          <p:nvPr/>
        </p:nvSpPr>
        <p:spPr>
          <a:xfrm>
            <a:off x="365760" y="121920"/>
            <a:ext cx="11460480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6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Convolution Neural Network</a:t>
            </a:r>
            <a:endParaRPr lang="en-US" sz="2667" dirty="0"/>
          </a:p>
        </p:txBody>
      </p:sp>
      <p:sp>
        <p:nvSpPr>
          <p:cNvPr id="6" name="Shape 2"/>
          <p:cNvSpPr/>
          <p:nvPr/>
        </p:nvSpPr>
        <p:spPr>
          <a:xfrm>
            <a:off x="243840" y="5608320"/>
            <a:ext cx="219456" cy="304800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en-GB" sz="3803"/>
          </a:p>
        </p:txBody>
      </p:sp>
      <p:sp>
        <p:nvSpPr>
          <p:cNvPr id="8" name="Shape 4"/>
          <p:cNvSpPr/>
          <p:nvPr/>
        </p:nvSpPr>
        <p:spPr>
          <a:xfrm>
            <a:off x="243840" y="5608320"/>
            <a:ext cx="219456" cy="304800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en-GB" sz="3803"/>
          </a:p>
        </p:txBody>
      </p:sp>
      <p:sp>
        <p:nvSpPr>
          <p:cNvPr id="9" name="Text 5"/>
          <p:cNvSpPr/>
          <p:nvPr/>
        </p:nvSpPr>
        <p:spPr>
          <a:xfrm>
            <a:off x="548640" y="5876544"/>
            <a:ext cx="113385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epoch: 13  (val acc 99.39%,  val loss 0.0186)</a:t>
            </a:r>
            <a:endParaRPr lang="en-US" sz="1333" dirty="0"/>
          </a:p>
        </p:txBody>
      </p:sp>
      <p:sp>
        <p:nvSpPr>
          <p:cNvPr id="10" name="Shape 6"/>
          <p:cNvSpPr/>
          <p:nvPr/>
        </p:nvSpPr>
        <p:spPr>
          <a:xfrm>
            <a:off x="243840" y="5608320"/>
            <a:ext cx="219456" cy="304800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en-GB" sz="3803"/>
          </a:p>
        </p:txBody>
      </p:sp>
      <p:sp>
        <p:nvSpPr>
          <p:cNvPr id="12" name="Shape 8"/>
          <p:cNvSpPr/>
          <p:nvPr/>
        </p:nvSpPr>
        <p:spPr>
          <a:xfrm>
            <a:off x="243840" y="5608320"/>
            <a:ext cx="219456" cy="304800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en-GB" sz="3803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1066B8B-E61F-35FF-A337-75ABBF6F28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14402"/>
            <a:ext cx="12192000" cy="5901559"/>
          </a:xfrm>
          <a:prstGeom prst="rect">
            <a:avLst/>
          </a:prstGeom>
        </p:spPr>
      </p:pic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D87CD71D-7621-C4B4-5B36-A116233AFED2}"/>
              </a:ext>
            </a:extLst>
          </p:cNvPr>
          <p:cNvSpPr/>
          <p:nvPr/>
        </p:nvSpPr>
        <p:spPr>
          <a:xfrm>
            <a:off x="11613255" y="359267"/>
            <a:ext cx="395865" cy="195865"/>
          </a:xfrm>
          <a:prstGeom prst="roundRect">
            <a:avLst>
              <a:gd name="adj" fmla="val 37711"/>
            </a:avLst>
          </a:prstGeom>
          <a:solidFill>
            <a:srgbClr val="605C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/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2422884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1A237E"/>
          </a:solidFill>
          <a:ln/>
        </p:spPr>
        <p:txBody>
          <a:bodyPr/>
          <a:lstStyle/>
          <a:p>
            <a:endParaRPr lang="en-GB" sz="3803"/>
          </a:p>
        </p:txBody>
      </p:sp>
      <p:sp>
        <p:nvSpPr>
          <p:cNvPr id="3" name="Text 1"/>
          <p:cNvSpPr/>
          <p:nvPr/>
        </p:nvSpPr>
        <p:spPr>
          <a:xfrm>
            <a:off x="365760" y="121920"/>
            <a:ext cx="11460480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6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design choices</a:t>
            </a:r>
            <a:endParaRPr lang="en-US" sz="2667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9E2781-0CED-EAD8-7734-73DAAEB891BF}"/>
              </a:ext>
            </a:extLst>
          </p:cNvPr>
          <p:cNvSpPr txBox="1"/>
          <p:nvPr/>
        </p:nvSpPr>
        <p:spPr>
          <a:xfrm>
            <a:off x="261845" y="1374669"/>
            <a:ext cx="11766508" cy="4524315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38BDF8"/>
                </a:solidFill>
                <a:latin typeface="Lato" panose="020F0502020204030203" pitchFamily="34" charset="0"/>
              </a:rPr>
              <a:t>Batch Normalization</a:t>
            </a:r>
            <a:r>
              <a:rPr lang="en-US" sz="2400" dirty="0">
                <a:solidFill>
                  <a:srgbClr val="E2E8F0"/>
                </a:solidFill>
                <a:latin typeface="Lato" panose="020F0502020204030203" pitchFamily="34" charset="0"/>
              </a:rPr>
              <a:t> Rescales layer outputs to mean zero and unit variance. </a:t>
            </a:r>
          </a:p>
          <a:p>
            <a:r>
              <a:rPr lang="en-US" sz="2400" dirty="0">
                <a:solidFill>
                  <a:srgbClr val="E2E8F0"/>
                </a:solidFill>
                <a:latin typeface="Lato" panose="020F0502020204030203" pitchFamily="34" charset="0"/>
              </a:rPr>
              <a:t>Accelerates training by up to 3× and provides mild regularization.</a:t>
            </a:r>
          </a:p>
          <a:p>
            <a:endParaRPr lang="en-US" sz="2400" dirty="0"/>
          </a:p>
          <a:p>
            <a:r>
              <a:rPr lang="en-US" sz="2400" b="1" dirty="0" err="1">
                <a:solidFill>
                  <a:srgbClr val="38BDF8"/>
                </a:solidFill>
                <a:latin typeface="Lato" panose="020F0502020204030203" pitchFamily="34" charset="0"/>
              </a:rPr>
              <a:t>MaxPooling</a:t>
            </a:r>
            <a:r>
              <a:rPr lang="en-US" sz="2400" b="1" dirty="0">
                <a:solidFill>
                  <a:srgbClr val="38BDF8"/>
                </a:solidFill>
                <a:latin typeface="Lato" panose="020F0502020204030203" pitchFamily="34" charset="0"/>
              </a:rPr>
              <a:t> (2×2)</a:t>
            </a:r>
            <a:r>
              <a:rPr lang="en-US" sz="2400" dirty="0">
                <a:solidFill>
                  <a:srgbClr val="E2E8F0"/>
                </a:solidFill>
                <a:latin typeface="Lato" panose="020F0502020204030203" pitchFamily="34" charset="0"/>
              </a:rPr>
              <a:t> </a:t>
            </a:r>
            <a:r>
              <a:rPr lang="en-US" sz="2400" dirty="0" err="1">
                <a:solidFill>
                  <a:srgbClr val="E2E8F0"/>
                </a:solidFill>
                <a:latin typeface="Lato" panose="020F0502020204030203" pitchFamily="34" charset="0"/>
              </a:rPr>
              <a:t>Downsamples</a:t>
            </a:r>
            <a:r>
              <a:rPr lang="en-US" sz="2400" dirty="0">
                <a:solidFill>
                  <a:srgbClr val="E2E8F0"/>
                </a:solidFill>
                <a:latin typeface="Lato" panose="020F0502020204030203" pitchFamily="34" charset="0"/>
              </a:rPr>
              <a:t> spatial dimensions to reduce computation costs while making detected features invariant to small translational shifts.</a:t>
            </a:r>
            <a:endParaRPr lang="en-US" sz="2400" dirty="0"/>
          </a:p>
          <a:p>
            <a:br>
              <a:rPr lang="en-US" sz="2400" dirty="0"/>
            </a:br>
            <a:r>
              <a:rPr lang="en-US" sz="2400" b="1" dirty="0">
                <a:solidFill>
                  <a:srgbClr val="38BDF8"/>
                </a:solidFill>
                <a:latin typeface="Lato" panose="020F0502020204030203" pitchFamily="34" charset="0"/>
              </a:rPr>
              <a:t>Dropout Regularization</a:t>
            </a:r>
            <a:r>
              <a:rPr lang="en-US" sz="2400" dirty="0">
                <a:solidFill>
                  <a:srgbClr val="E2E8F0"/>
                </a:solidFill>
                <a:latin typeface="Lato" panose="020F0502020204030203" pitchFamily="34" charset="0"/>
              </a:rPr>
              <a:t> Randomly silences 25–50% of neurons during training. This prevents memorization and forces robust, distributed learning.</a:t>
            </a:r>
            <a:endParaRPr lang="en-US" sz="2400" dirty="0"/>
          </a:p>
          <a:p>
            <a:br>
              <a:rPr lang="en-US" sz="2400" dirty="0"/>
            </a:br>
            <a:r>
              <a:rPr lang="en-US" sz="2400" b="1" dirty="0" err="1">
                <a:solidFill>
                  <a:srgbClr val="38BDF8"/>
                </a:solidFill>
                <a:latin typeface="Lato" panose="020F0502020204030203" pitchFamily="34" charset="0"/>
              </a:rPr>
              <a:t>GlobalAveragePooling</a:t>
            </a:r>
            <a:r>
              <a:rPr lang="en-US" sz="2400" dirty="0">
                <a:solidFill>
                  <a:srgbClr val="E2E8F0"/>
                </a:solidFill>
                <a:latin typeface="Lato" panose="020F0502020204030203" pitchFamily="34" charset="0"/>
              </a:rPr>
              <a:t> Replaces the Flatten layer by averaging feature maps into a compact vector, dramatically reducing model parameter count.</a:t>
            </a:r>
            <a:endParaRPr lang="en-US" sz="2400" dirty="0"/>
          </a:p>
          <a:p>
            <a:endParaRPr lang="de-DE" sz="2400" dirty="0"/>
          </a:p>
        </p:txBody>
      </p:sp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5E845381-F27D-D95E-426B-28690EE770EF}"/>
              </a:ext>
            </a:extLst>
          </p:cNvPr>
          <p:cNvSpPr/>
          <p:nvPr/>
        </p:nvSpPr>
        <p:spPr>
          <a:xfrm>
            <a:off x="11613255" y="359267"/>
            <a:ext cx="395865" cy="195865"/>
          </a:xfrm>
          <a:prstGeom prst="roundRect">
            <a:avLst>
              <a:gd name="adj" fmla="val 37711"/>
            </a:avLst>
          </a:prstGeom>
          <a:solidFill>
            <a:srgbClr val="605C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7030756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1A237E"/>
          </a:solidFill>
          <a:ln/>
        </p:spPr>
        <p:txBody>
          <a:bodyPr/>
          <a:lstStyle/>
          <a:p>
            <a:endParaRPr lang="en-GB" sz="3803"/>
          </a:p>
        </p:txBody>
      </p:sp>
      <p:sp>
        <p:nvSpPr>
          <p:cNvPr id="3" name="Text 1"/>
          <p:cNvSpPr/>
          <p:nvPr/>
        </p:nvSpPr>
        <p:spPr>
          <a:xfrm>
            <a:off x="365760" y="121920"/>
            <a:ext cx="11460480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6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Configuration &amp; Data Augmentation</a:t>
            </a:r>
            <a:endParaRPr lang="en-US" sz="2667" dirty="0"/>
          </a:p>
        </p:txBody>
      </p:sp>
      <p:sp>
        <p:nvSpPr>
          <p:cNvPr id="4" name="Text 2"/>
          <p:cNvSpPr/>
          <p:nvPr/>
        </p:nvSpPr>
        <p:spPr>
          <a:xfrm>
            <a:off x="365760" y="1097280"/>
            <a:ext cx="560832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HYPERPARAMETERS</a:t>
            </a:r>
            <a:endParaRPr lang="en-US" sz="1467" dirty="0"/>
          </a:p>
        </p:txBody>
      </p:sp>
      <p:sp>
        <p:nvSpPr>
          <p:cNvPr id="5" name="Shape 3"/>
          <p:cNvSpPr/>
          <p:nvPr/>
        </p:nvSpPr>
        <p:spPr>
          <a:xfrm>
            <a:off x="365760" y="1584960"/>
            <a:ext cx="5608320" cy="548640"/>
          </a:xfrm>
          <a:prstGeom prst="rect">
            <a:avLst/>
          </a:prstGeom>
          <a:solidFill>
            <a:srgbClr val="F0F4F8"/>
          </a:solidFill>
          <a:ln w="12700">
            <a:solidFill>
              <a:srgbClr val="CFD8DC"/>
            </a:solidFill>
            <a:prstDash val="solid"/>
          </a:ln>
        </p:spPr>
        <p:txBody>
          <a:bodyPr/>
          <a:lstStyle/>
          <a:p>
            <a:endParaRPr lang="en-GB" sz="3803"/>
          </a:p>
        </p:txBody>
      </p:sp>
      <p:sp>
        <p:nvSpPr>
          <p:cNvPr id="6" name="Text 4"/>
          <p:cNvSpPr/>
          <p:nvPr/>
        </p:nvSpPr>
        <p:spPr>
          <a:xfrm>
            <a:off x="487680" y="1584960"/>
            <a:ext cx="170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Optimizer</a:t>
            </a:r>
            <a:endParaRPr lang="en-US" sz="1333" dirty="0"/>
          </a:p>
        </p:txBody>
      </p:sp>
      <p:sp>
        <p:nvSpPr>
          <p:cNvPr id="7" name="Text 5"/>
          <p:cNvSpPr/>
          <p:nvPr/>
        </p:nvSpPr>
        <p:spPr>
          <a:xfrm>
            <a:off x="2194560" y="15849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AdamW  lr=1e-3  wd=1e-4</a:t>
            </a:r>
            <a:endParaRPr lang="en-US" sz="1333" dirty="0"/>
          </a:p>
        </p:txBody>
      </p:sp>
      <p:sp>
        <p:nvSpPr>
          <p:cNvPr id="8" name="Shape 6"/>
          <p:cNvSpPr/>
          <p:nvPr/>
        </p:nvSpPr>
        <p:spPr>
          <a:xfrm>
            <a:off x="365760" y="2194560"/>
            <a:ext cx="5608320" cy="548640"/>
          </a:xfrm>
          <a:prstGeom prst="rect">
            <a:avLst/>
          </a:prstGeom>
          <a:solidFill>
            <a:srgbClr val="E8EDF2"/>
          </a:solidFill>
          <a:ln w="12700">
            <a:solidFill>
              <a:srgbClr val="CFD8DC"/>
            </a:solidFill>
            <a:prstDash val="solid"/>
          </a:ln>
        </p:spPr>
        <p:txBody>
          <a:bodyPr/>
          <a:lstStyle/>
          <a:p>
            <a:endParaRPr lang="en-GB" sz="3803"/>
          </a:p>
        </p:txBody>
      </p:sp>
      <p:sp>
        <p:nvSpPr>
          <p:cNvPr id="9" name="Text 7"/>
          <p:cNvSpPr/>
          <p:nvPr/>
        </p:nvSpPr>
        <p:spPr>
          <a:xfrm>
            <a:off x="487680" y="2194560"/>
            <a:ext cx="170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</a:t>
            </a:r>
            <a:endParaRPr lang="en-US" sz="1333" dirty="0"/>
          </a:p>
        </p:txBody>
      </p:sp>
      <p:sp>
        <p:nvSpPr>
          <p:cNvPr id="10" name="Text 8"/>
          <p:cNvSpPr/>
          <p:nvPr/>
        </p:nvSpPr>
        <p:spPr>
          <a:xfrm>
            <a:off x="2194560" y="21945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Categorical Cross-Entropy</a:t>
            </a:r>
            <a:endParaRPr lang="en-US" sz="1333" dirty="0"/>
          </a:p>
        </p:txBody>
      </p:sp>
      <p:sp>
        <p:nvSpPr>
          <p:cNvPr id="11" name="Shape 9"/>
          <p:cNvSpPr/>
          <p:nvPr/>
        </p:nvSpPr>
        <p:spPr>
          <a:xfrm>
            <a:off x="365760" y="2804160"/>
            <a:ext cx="5608320" cy="548640"/>
          </a:xfrm>
          <a:prstGeom prst="rect">
            <a:avLst/>
          </a:prstGeom>
          <a:solidFill>
            <a:srgbClr val="F0F4F8"/>
          </a:solidFill>
          <a:ln w="12700">
            <a:solidFill>
              <a:srgbClr val="CFD8DC"/>
            </a:solidFill>
            <a:prstDash val="solid"/>
          </a:ln>
        </p:spPr>
        <p:txBody>
          <a:bodyPr/>
          <a:lstStyle/>
          <a:p>
            <a:endParaRPr lang="en-GB" sz="3803"/>
          </a:p>
        </p:txBody>
      </p:sp>
      <p:sp>
        <p:nvSpPr>
          <p:cNvPr id="12" name="Text 10"/>
          <p:cNvSpPr/>
          <p:nvPr/>
        </p:nvSpPr>
        <p:spPr>
          <a:xfrm>
            <a:off x="487680" y="2804160"/>
            <a:ext cx="170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Size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2194560" y="28041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</a:t>
            </a:r>
            <a:endParaRPr lang="en-US" sz="1333" dirty="0"/>
          </a:p>
        </p:txBody>
      </p:sp>
      <p:sp>
        <p:nvSpPr>
          <p:cNvPr id="14" name="Shape 12"/>
          <p:cNvSpPr/>
          <p:nvPr/>
        </p:nvSpPr>
        <p:spPr>
          <a:xfrm>
            <a:off x="365760" y="3413760"/>
            <a:ext cx="5608320" cy="548640"/>
          </a:xfrm>
          <a:prstGeom prst="rect">
            <a:avLst/>
          </a:prstGeom>
          <a:solidFill>
            <a:srgbClr val="E8EDF2"/>
          </a:solidFill>
          <a:ln w="12700">
            <a:solidFill>
              <a:srgbClr val="CFD8DC"/>
            </a:solidFill>
            <a:prstDash val="solid"/>
          </a:ln>
        </p:spPr>
        <p:txBody>
          <a:bodyPr/>
          <a:lstStyle/>
          <a:p>
            <a:endParaRPr lang="en-GB" sz="3803"/>
          </a:p>
        </p:txBody>
      </p:sp>
      <p:sp>
        <p:nvSpPr>
          <p:cNvPr id="15" name="Text 13"/>
          <p:cNvSpPr/>
          <p:nvPr/>
        </p:nvSpPr>
        <p:spPr>
          <a:xfrm>
            <a:off x="487680" y="3413760"/>
            <a:ext cx="170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Epochs</a:t>
            </a:r>
            <a:endParaRPr lang="en-US" sz="1333" dirty="0"/>
          </a:p>
        </p:txBody>
      </p:sp>
      <p:sp>
        <p:nvSpPr>
          <p:cNvPr id="16" name="Text 14"/>
          <p:cNvSpPr/>
          <p:nvPr/>
        </p:nvSpPr>
        <p:spPr>
          <a:xfrm>
            <a:off x="2194560" y="34137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(early stop @ 18)</a:t>
            </a:r>
            <a:endParaRPr lang="en-US" sz="1333" dirty="0"/>
          </a:p>
        </p:txBody>
      </p:sp>
      <p:sp>
        <p:nvSpPr>
          <p:cNvPr id="17" name="Shape 15"/>
          <p:cNvSpPr/>
          <p:nvPr/>
        </p:nvSpPr>
        <p:spPr>
          <a:xfrm>
            <a:off x="365760" y="4023360"/>
            <a:ext cx="5608320" cy="548640"/>
          </a:xfrm>
          <a:prstGeom prst="rect">
            <a:avLst/>
          </a:prstGeom>
          <a:solidFill>
            <a:srgbClr val="F0F4F8"/>
          </a:solidFill>
          <a:ln w="12700">
            <a:solidFill>
              <a:srgbClr val="CFD8DC"/>
            </a:solidFill>
            <a:prstDash val="solid"/>
          </a:ln>
        </p:spPr>
        <p:txBody>
          <a:bodyPr/>
          <a:lstStyle/>
          <a:p>
            <a:endParaRPr lang="en-GB" sz="3803"/>
          </a:p>
        </p:txBody>
      </p:sp>
      <p:sp>
        <p:nvSpPr>
          <p:cNvPr id="18" name="Text 16"/>
          <p:cNvSpPr/>
          <p:nvPr/>
        </p:nvSpPr>
        <p:spPr>
          <a:xfrm>
            <a:off x="487680" y="4023360"/>
            <a:ext cx="170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Epoch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2194560" y="40233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Epoch 13</a:t>
            </a:r>
            <a:endParaRPr lang="en-US" sz="1333" dirty="0"/>
          </a:p>
        </p:txBody>
      </p:sp>
      <p:sp>
        <p:nvSpPr>
          <p:cNvPr id="20" name="Shape 18"/>
          <p:cNvSpPr/>
          <p:nvPr/>
        </p:nvSpPr>
        <p:spPr>
          <a:xfrm>
            <a:off x="365760" y="4632960"/>
            <a:ext cx="5608320" cy="548640"/>
          </a:xfrm>
          <a:prstGeom prst="rect">
            <a:avLst/>
          </a:prstGeom>
          <a:solidFill>
            <a:srgbClr val="E8EDF2"/>
          </a:solidFill>
          <a:ln w="12700">
            <a:solidFill>
              <a:srgbClr val="CFD8DC"/>
            </a:solidFill>
            <a:prstDash val="solid"/>
          </a:ln>
        </p:spPr>
        <p:txBody>
          <a:bodyPr/>
          <a:lstStyle/>
          <a:p>
            <a:endParaRPr lang="en-GB" sz="3803"/>
          </a:p>
        </p:txBody>
      </p:sp>
      <p:sp>
        <p:nvSpPr>
          <p:cNvPr id="21" name="Text 19"/>
          <p:cNvSpPr/>
          <p:nvPr/>
        </p:nvSpPr>
        <p:spPr>
          <a:xfrm>
            <a:off x="487680" y="4632960"/>
            <a:ext cx="170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Callbacks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2194560" y="46329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EarlyStopping  +  ReduceLROnPlateau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365760" y="5303520"/>
            <a:ext cx="5608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 SCHEDULE</a:t>
            </a:r>
            <a:endParaRPr lang="en-US" sz="1333" dirty="0"/>
          </a:p>
        </p:txBody>
      </p:sp>
      <p:sp>
        <p:nvSpPr>
          <p:cNvPr id="24" name="Shape 22"/>
          <p:cNvSpPr/>
          <p:nvPr/>
        </p:nvSpPr>
        <p:spPr>
          <a:xfrm>
            <a:off x="365760" y="6156960"/>
            <a:ext cx="5608320" cy="0"/>
          </a:xfrm>
          <a:prstGeom prst="line">
            <a:avLst/>
          </a:prstGeom>
          <a:noFill/>
          <a:ln w="254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GB" sz="3803"/>
          </a:p>
        </p:txBody>
      </p:sp>
      <p:sp>
        <p:nvSpPr>
          <p:cNvPr id="25" name="Shape 23"/>
          <p:cNvSpPr/>
          <p:nvPr/>
        </p:nvSpPr>
        <p:spPr>
          <a:xfrm>
            <a:off x="243840" y="6035040"/>
            <a:ext cx="243840" cy="243840"/>
          </a:xfrm>
          <a:prstGeom prst="ellipse">
            <a:avLst/>
          </a:prstGeom>
          <a:solidFill>
            <a:srgbClr val="FF6F00"/>
          </a:solidFill>
          <a:ln w="12700">
            <a:solidFill>
              <a:srgbClr val="FF6F00"/>
            </a:solidFill>
            <a:prstDash val="solid"/>
          </a:ln>
        </p:spPr>
        <p:txBody>
          <a:bodyPr/>
          <a:lstStyle/>
          <a:p>
            <a:endParaRPr lang="en-GB" sz="3803"/>
          </a:p>
        </p:txBody>
      </p:sp>
      <p:sp>
        <p:nvSpPr>
          <p:cNvPr id="26" name="Text 24"/>
          <p:cNvSpPr/>
          <p:nvPr/>
        </p:nvSpPr>
        <p:spPr>
          <a:xfrm>
            <a:off x="60960" y="6315456"/>
            <a:ext cx="85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933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1e-3</a:t>
            </a:r>
            <a:endParaRPr lang="en-US" sz="933" dirty="0"/>
          </a:p>
        </p:txBody>
      </p:sp>
      <p:sp>
        <p:nvSpPr>
          <p:cNvPr id="27" name="Shape 25"/>
          <p:cNvSpPr/>
          <p:nvPr/>
        </p:nvSpPr>
        <p:spPr>
          <a:xfrm>
            <a:off x="1621536" y="6035040"/>
            <a:ext cx="243840" cy="243840"/>
          </a:xfrm>
          <a:prstGeom prst="ellipse">
            <a:avLst/>
          </a:prstGeom>
          <a:solidFill>
            <a:srgbClr val="FF6F00"/>
          </a:solidFill>
          <a:ln w="12700">
            <a:solidFill>
              <a:srgbClr val="FF6F00"/>
            </a:solidFill>
            <a:prstDash val="solid"/>
          </a:ln>
        </p:spPr>
        <p:txBody>
          <a:bodyPr/>
          <a:lstStyle/>
          <a:p>
            <a:endParaRPr lang="en-GB" sz="3803"/>
          </a:p>
        </p:txBody>
      </p:sp>
      <p:sp>
        <p:nvSpPr>
          <p:cNvPr id="28" name="Text 26"/>
          <p:cNvSpPr/>
          <p:nvPr/>
        </p:nvSpPr>
        <p:spPr>
          <a:xfrm>
            <a:off x="1438656" y="6315456"/>
            <a:ext cx="85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933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5e-4</a:t>
            </a:r>
            <a:endParaRPr lang="en-US" sz="933" dirty="0"/>
          </a:p>
          <a:p>
            <a:pPr algn="ctr"/>
            <a:r>
              <a:rPr lang="en-US" sz="933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(ep6)</a:t>
            </a:r>
            <a:endParaRPr lang="en-US" sz="933" dirty="0"/>
          </a:p>
        </p:txBody>
      </p:sp>
      <p:sp>
        <p:nvSpPr>
          <p:cNvPr id="29" name="Shape 27"/>
          <p:cNvSpPr/>
          <p:nvPr/>
        </p:nvSpPr>
        <p:spPr>
          <a:xfrm>
            <a:off x="2999232" y="6035040"/>
            <a:ext cx="243840" cy="243840"/>
          </a:xfrm>
          <a:prstGeom prst="ellipse">
            <a:avLst/>
          </a:prstGeom>
          <a:solidFill>
            <a:srgbClr val="FF6F00"/>
          </a:solidFill>
          <a:ln w="12700">
            <a:solidFill>
              <a:srgbClr val="FF6F00"/>
            </a:solidFill>
            <a:prstDash val="solid"/>
          </a:ln>
        </p:spPr>
        <p:txBody>
          <a:bodyPr/>
          <a:lstStyle/>
          <a:p>
            <a:endParaRPr lang="en-GB" sz="3803"/>
          </a:p>
        </p:txBody>
      </p:sp>
      <p:sp>
        <p:nvSpPr>
          <p:cNvPr id="30" name="Text 28"/>
          <p:cNvSpPr/>
          <p:nvPr/>
        </p:nvSpPr>
        <p:spPr>
          <a:xfrm>
            <a:off x="2816352" y="6315456"/>
            <a:ext cx="85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933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2.5e-4</a:t>
            </a:r>
            <a:endParaRPr lang="en-US" sz="933" dirty="0"/>
          </a:p>
          <a:p>
            <a:pPr algn="ctr"/>
            <a:r>
              <a:rPr lang="en-US" sz="933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(ep10)</a:t>
            </a:r>
            <a:endParaRPr lang="en-US" sz="933" dirty="0"/>
          </a:p>
        </p:txBody>
      </p:sp>
      <p:sp>
        <p:nvSpPr>
          <p:cNvPr id="31" name="Shape 29"/>
          <p:cNvSpPr/>
          <p:nvPr/>
        </p:nvSpPr>
        <p:spPr>
          <a:xfrm>
            <a:off x="4376928" y="6035040"/>
            <a:ext cx="243840" cy="243840"/>
          </a:xfrm>
          <a:prstGeom prst="ellipse">
            <a:avLst/>
          </a:prstGeom>
          <a:solidFill>
            <a:srgbClr val="FF6F00"/>
          </a:solidFill>
          <a:ln w="12700">
            <a:solidFill>
              <a:srgbClr val="FF6F00"/>
            </a:solidFill>
            <a:prstDash val="solid"/>
          </a:ln>
        </p:spPr>
        <p:txBody>
          <a:bodyPr/>
          <a:lstStyle/>
          <a:p>
            <a:endParaRPr lang="en-GB" sz="3803"/>
          </a:p>
        </p:txBody>
      </p:sp>
      <p:sp>
        <p:nvSpPr>
          <p:cNvPr id="32" name="Text 30"/>
          <p:cNvSpPr/>
          <p:nvPr/>
        </p:nvSpPr>
        <p:spPr>
          <a:xfrm>
            <a:off x="4194048" y="6315456"/>
            <a:ext cx="85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933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1.25e-4</a:t>
            </a:r>
            <a:endParaRPr lang="en-US" sz="933" dirty="0"/>
          </a:p>
          <a:p>
            <a:pPr algn="ctr"/>
            <a:r>
              <a:rPr lang="en-US" sz="933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(ep12)</a:t>
            </a:r>
            <a:endParaRPr lang="en-US" sz="933" dirty="0"/>
          </a:p>
        </p:txBody>
      </p:sp>
      <p:sp>
        <p:nvSpPr>
          <p:cNvPr id="33" name="Shape 31"/>
          <p:cNvSpPr/>
          <p:nvPr/>
        </p:nvSpPr>
        <p:spPr>
          <a:xfrm>
            <a:off x="5754624" y="6035040"/>
            <a:ext cx="243840" cy="243840"/>
          </a:xfrm>
          <a:prstGeom prst="ellipse">
            <a:avLst/>
          </a:prstGeom>
          <a:solidFill>
            <a:srgbClr val="FF6F00"/>
          </a:solidFill>
          <a:ln w="12700">
            <a:solidFill>
              <a:srgbClr val="FF6F00"/>
            </a:solidFill>
            <a:prstDash val="solid"/>
          </a:ln>
        </p:spPr>
        <p:txBody>
          <a:bodyPr/>
          <a:lstStyle/>
          <a:p>
            <a:endParaRPr lang="en-GB" sz="3803"/>
          </a:p>
        </p:txBody>
      </p:sp>
      <p:sp>
        <p:nvSpPr>
          <p:cNvPr id="34" name="Text 32"/>
          <p:cNvSpPr/>
          <p:nvPr/>
        </p:nvSpPr>
        <p:spPr>
          <a:xfrm>
            <a:off x="5571744" y="6315456"/>
            <a:ext cx="85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933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6.25e-5</a:t>
            </a:r>
            <a:endParaRPr lang="en-US" sz="933" dirty="0"/>
          </a:p>
          <a:p>
            <a:pPr algn="ctr"/>
            <a:r>
              <a:rPr lang="en-US" sz="933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(ep17)</a:t>
            </a:r>
            <a:endParaRPr lang="en-US" sz="933" dirty="0"/>
          </a:p>
        </p:txBody>
      </p:sp>
      <p:sp>
        <p:nvSpPr>
          <p:cNvPr id="35" name="Shape 33"/>
          <p:cNvSpPr/>
          <p:nvPr/>
        </p:nvSpPr>
        <p:spPr>
          <a:xfrm>
            <a:off x="6339840" y="1097280"/>
            <a:ext cx="5486400" cy="5608320"/>
          </a:xfrm>
          <a:prstGeom prst="rect">
            <a:avLst/>
          </a:prstGeom>
          <a:solidFill>
            <a:srgbClr val="F8FAFC"/>
          </a:solidFill>
          <a:ln w="12700">
            <a:solidFill>
              <a:srgbClr val="CFD8DC"/>
            </a:solidFill>
            <a:prstDash val="solid"/>
          </a:ln>
        </p:spPr>
        <p:txBody>
          <a:bodyPr/>
          <a:lstStyle/>
          <a:p>
            <a:endParaRPr lang="en-GB" sz="3803"/>
          </a:p>
        </p:txBody>
      </p:sp>
      <p:sp>
        <p:nvSpPr>
          <p:cNvPr id="36" name="Text 34"/>
          <p:cNvSpPr/>
          <p:nvPr/>
        </p:nvSpPr>
        <p:spPr>
          <a:xfrm>
            <a:off x="6339840" y="1158240"/>
            <a:ext cx="548640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AUGMENTATION PIPELINE</a:t>
            </a:r>
            <a:endParaRPr lang="en-US" sz="1467" dirty="0"/>
          </a:p>
        </p:txBody>
      </p:sp>
      <p:sp>
        <p:nvSpPr>
          <p:cNvPr id="37" name="Shape 35"/>
          <p:cNvSpPr/>
          <p:nvPr/>
        </p:nvSpPr>
        <p:spPr>
          <a:xfrm>
            <a:off x="6583680" y="1767840"/>
            <a:ext cx="548640" cy="548640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GB" sz="3803"/>
          </a:p>
        </p:txBody>
      </p:sp>
      <p:sp>
        <p:nvSpPr>
          <p:cNvPr id="38" name="Text 36"/>
          <p:cNvSpPr/>
          <p:nvPr/>
        </p:nvSpPr>
        <p:spPr>
          <a:xfrm>
            <a:off x="6583680" y="17678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867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1867" dirty="0"/>
          </a:p>
        </p:txBody>
      </p:sp>
      <p:sp>
        <p:nvSpPr>
          <p:cNvPr id="39" name="Text 37"/>
          <p:cNvSpPr/>
          <p:nvPr/>
        </p:nvSpPr>
        <p:spPr>
          <a:xfrm>
            <a:off x="7217664" y="1792224"/>
            <a:ext cx="256032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Rotation</a:t>
            </a:r>
            <a:endParaRPr lang="en-US" sz="1333" dirty="0"/>
          </a:p>
        </p:txBody>
      </p:sp>
      <p:sp>
        <p:nvSpPr>
          <p:cNvPr id="40" name="Text 38"/>
          <p:cNvSpPr/>
          <p:nvPr/>
        </p:nvSpPr>
        <p:spPr>
          <a:xfrm>
            <a:off x="7217664" y="2036064"/>
            <a:ext cx="2560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±8%  (28.8°)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936480" y="1828800"/>
            <a:ext cx="1463040" cy="426720"/>
          </a:xfrm>
          <a:prstGeom prst="rect">
            <a:avLst/>
          </a:prstGeom>
          <a:solidFill>
            <a:srgbClr val="E8F5E9"/>
          </a:solidFill>
          <a:ln w="12700">
            <a:solidFill>
              <a:srgbClr val="A5D6A7"/>
            </a:solidFill>
            <a:prstDash val="solid"/>
          </a:ln>
        </p:spPr>
        <p:txBody>
          <a:bodyPr/>
          <a:lstStyle/>
          <a:p>
            <a:endParaRPr lang="en-GB" sz="3803"/>
          </a:p>
        </p:txBody>
      </p:sp>
      <p:sp>
        <p:nvSpPr>
          <p:cNvPr id="42" name="Text 40"/>
          <p:cNvSpPr/>
          <p:nvPr/>
        </p:nvSpPr>
        <p:spPr>
          <a:xfrm>
            <a:off x="9936480" y="1828800"/>
            <a:ext cx="146304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67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±8%  (28.8°)</a:t>
            </a:r>
            <a:endParaRPr lang="en-US" sz="1067" dirty="0"/>
          </a:p>
        </p:txBody>
      </p:sp>
      <p:sp>
        <p:nvSpPr>
          <p:cNvPr id="43" name="Shape 41"/>
          <p:cNvSpPr/>
          <p:nvPr/>
        </p:nvSpPr>
        <p:spPr>
          <a:xfrm>
            <a:off x="6583680" y="2535936"/>
            <a:ext cx="548640" cy="548640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en-GB" sz="3803"/>
          </a:p>
        </p:txBody>
      </p:sp>
      <p:sp>
        <p:nvSpPr>
          <p:cNvPr id="44" name="Text 42"/>
          <p:cNvSpPr/>
          <p:nvPr/>
        </p:nvSpPr>
        <p:spPr>
          <a:xfrm>
            <a:off x="6583680" y="253593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867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1867" dirty="0"/>
          </a:p>
        </p:txBody>
      </p:sp>
      <p:sp>
        <p:nvSpPr>
          <p:cNvPr id="45" name="Text 43"/>
          <p:cNvSpPr/>
          <p:nvPr/>
        </p:nvSpPr>
        <p:spPr>
          <a:xfrm>
            <a:off x="7217664" y="2560320"/>
            <a:ext cx="256032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Translation</a:t>
            </a:r>
            <a:endParaRPr lang="en-US" sz="1333" dirty="0"/>
          </a:p>
        </p:txBody>
      </p:sp>
      <p:sp>
        <p:nvSpPr>
          <p:cNvPr id="46" name="Text 44"/>
          <p:cNvSpPr/>
          <p:nvPr/>
        </p:nvSpPr>
        <p:spPr>
          <a:xfrm>
            <a:off x="7217664" y="2804160"/>
            <a:ext cx="2560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±8% H &amp; V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9936480" y="2596896"/>
            <a:ext cx="1463040" cy="426720"/>
          </a:xfrm>
          <a:prstGeom prst="rect">
            <a:avLst/>
          </a:prstGeom>
          <a:solidFill>
            <a:srgbClr val="E8F5E9"/>
          </a:solidFill>
          <a:ln w="12700">
            <a:solidFill>
              <a:srgbClr val="A5D6A7"/>
            </a:solidFill>
            <a:prstDash val="solid"/>
          </a:ln>
        </p:spPr>
        <p:txBody>
          <a:bodyPr/>
          <a:lstStyle/>
          <a:p>
            <a:endParaRPr lang="en-GB" sz="3803"/>
          </a:p>
        </p:txBody>
      </p:sp>
      <p:sp>
        <p:nvSpPr>
          <p:cNvPr id="48" name="Text 46"/>
          <p:cNvSpPr/>
          <p:nvPr/>
        </p:nvSpPr>
        <p:spPr>
          <a:xfrm>
            <a:off x="9936480" y="2596896"/>
            <a:ext cx="146304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67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±8% H &amp; V</a:t>
            </a:r>
            <a:endParaRPr lang="en-US" sz="1067" dirty="0"/>
          </a:p>
        </p:txBody>
      </p:sp>
      <p:sp>
        <p:nvSpPr>
          <p:cNvPr id="49" name="Shape 47"/>
          <p:cNvSpPr/>
          <p:nvPr/>
        </p:nvSpPr>
        <p:spPr>
          <a:xfrm>
            <a:off x="6583680" y="3304032"/>
            <a:ext cx="548640" cy="548640"/>
          </a:xfrm>
          <a:prstGeom prst="ellipse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  <p:txBody>
          <a:bodyPr/>
          <a:lstStyle/>
          <a:p>
            <a:endParaRPr lang="en-GB" sz="3803"/>
          </a:p>
        </p:txBody>
      </p:sp>
      <p:sp>
        <p:nvSpPr>
          <p:cNvPr id="50" name="Text 48"/>
          <p:cNvSpPr/>
          <p:nvPr/>
        </p:nvSpPr>
        <p:spPr>
          <a:xfrm>
            <a:off x="6583680" y="33040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867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⊕</a:t>
            </a:r>
            <a:endParaRPr lang="en-US" sz="1867" dirty="0"/>
          </a:p>
        </p:txBody>
      </p:sp>
      <p:sp>
        <p:nvSpPr>
          <p:cNvPr id="51" name="Text 49"/>
          <p:cNvSpPr/>
          <p:nvPr/>
        </p:nvSpPr>
        <p:spPr>
          <a:xfrm>
            <a:off x="7217664" y="3328416"/>
            <a:ext cx="256032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Zoom</a:t>
            </a:r>
            <a:endParaRPr lang="en-US" sz="1333" dirty="0"/>
          </a:p>
        </p:txBody>
      </p:sp>
      <p:sp>
        <p:nvSpPr>
          <p:cNvPr id="52" name="Text 50"/>
          <p:cNvSpPr/>
          <p:nvPr/>
        </p:nvSpPr>
        <p:spPr>
          <a:xfrm>
            <a:off x="7217664" y="3572256"/>
            <a:ext cx="2560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±10%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9936480" y="3364992"/>
            <a:ext cx="1463040" cy="426720"/>
          </a:xfrm>
          <a:prstGeom prst="rect">
            <a:avLst/>
          </a:prstGeom>
          <a:solidFill>
            <a:srgbClr val="E8F5E9"/>
          </a:solidFill>
          <a:ln w="12700">
            <a:solidFill>
              <a:srgbClr val="A5D6A7"/>
            </a:solidFill>
            <a:prstDash val="solid"/>
          </a:ln>
        </p:spPr>
        <p:txBody>
          <a:bodyPr/>
          <a:lstStyle/>
          <a:p>
            <a:endParaRPr lang="en-GB" sz="3803"/>
          </a:p>
        </p:txBody>
      </p:sp>
      <p:sp>
        <p:nvSpPr>
          <p:cNvPr id="54" name="Text 52"/>
          <p:cNvSpPr/>
          <p:nvPr/>
        </p:nvSpPr>
        <p:spPr>
          <a:xfrm>
            <a:off x="9936480" y="3364992"/>
            <a:ext cx="146304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67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±10%</a:t>
            </a:r>
            <a:endParaRPr lang="en-US" sz="1067" dirty="0"/>
          </a:p>
        </p:txBody>
      </p:sp>
      <p:sp>
        <p:nvSpPr>
          <p:cNvPr id="55" name="Shape 53"/>
          <p:cNvSpPr/>
          <p:nvPr/>
        </p:nvSpPr>
        <p:spPr>
          <a:xfrm>
            <a:off x="6583680" y="4072128"/>
            <a:ext cx="548640" cy="54864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GB" sz="3803"/>
          </a:p>
        </p:txBody>
      </p:sp>
      <p:sp>
        <p:nvSpPr>
          <p:cNvPr id="56" name="Text 54"/>
          <p:cNvSpPr/>
          <p:nvPr/>
        </p:nvSpPr>
        <p:spPr>
          <a:xfrm>
            <a:off x="6583680" y="407212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867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n-US" sz="1867" dirty="0"/>
          </a:p>
        </p:txBody>
      </p:sp>
      <p:sp>
        <p:nvSpPr>
          <p:cNvPr id="57" name="Text 55"/>
          <p:cNvSpPr/>
          <p:nvPr/>
        </p:nvSpPr>
        <p:spPr>
          <a:xfrm>
            <a:off x="7217664" y="4096512"/>
            <a:ext cx="256032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 Transform</a:t>
            </a:r>
            <a:endParaRPr lang="en-US" sz="1333" dirty="0"/>
          </a:p>
        </p:txBody>
      </p:sp>
      <p:sp>
        <p:nvSpPr>
          <p:cNvPr id="58" name="Text 56"/>
          <p:cNvSpPr/>
          <p:nvPr/>
        </p:nvSpPr>
        <p:spPr>
          <a:xfrm>
            <a:off x="7217664" y="4340352"/>
            <a:ext cx="2560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α=8  σ=4  p=0.7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9936480" y="4133088"/>
            <a:ext cx="1463040" cy="426720"/>
          </a:xfrm>
          <a:prstGeom prst="rect">
            <a:avLst/>
          </a:prstGeom>
          <a:solidFill>
            <a:srgbClr val="E8F5E9"/>
          </a:solidFill>
          <a:ln w="12700">
            <a:solidFill>
              <a:srgbClr val="A5D6A7"/>
            </a:solidFill>
            <a:prstDash val="solid"/>
          </a:ln>
        </p:spPr>
        <p:txBody>
          <a:bodyPr/>
          <a:lstStyle/>
          <a:p>
            <a:endParaRPr lang="en-GB" sz="3803"/>
          </a:p>
        </p:txBody>
      </p:sp>
      <p:sp>
        <p:nvSpPr>
          <p:cNvPr id="60" name="Text 58"/>
          <p:cNvSpPr/>
          <p:nvPr/>
        </p:nvSpPr>
        <p:spPr>
          <a:xfrm>
            <a:off x="9936480" y="4133088"/>
            <a:ext cx="146304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67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α=8  σ=4  p=0.7</a:t>
            </a:r>
            <a:endParaRPr lang="en-US" sz="1067" dirty="0"/>
          </a:p>
        </p:txBody>
      </p:sp>
      <p:sp>
        <p:nvSpPr>
          <p:cNvPr id="61" name="Shape 59"/>
          <p:cNvSpPr/>
          <p:nvPr/>
        </p:nvSpPr>
        <p:spPr>
          <a:xfrm>
            <a:off x="6583680" y="4840224"/>
            <a:ext cx="548640" cy="548640"/>
          </a:xfrm>
          <a:prstGeom prst="ellipse">
            <a:avLst/>
          </a:prstGeom>
          <a:solidFill>
            <a:srgbClr val="FF6F00"/>
          </a:solidFill>
          <a:ln w="12700">
            <a:solidFill>
              <a:srgbClr val="FF6F00"/>
            </a:solidFill>
            <a:prstDash val="solid"/>
          </a:ln>
        </p:spPr>
        <p:txBody>
          <a:bodyPr/>
          <a:lstStyle/>
          <a:p>
            <a:endParaRPr lang="en-GB" sz="3803"/>
          </a:p>
        </p:txBody>
      </p:sp>
      <p:sp>
        <p:nvSpPr>
          <p:cNvPr id="62" name="Text 60"/>
          <p:cNvSpPr/>
          <p:nvPr/>
        </p:nvSpPr>
        <p:spPr>
          <a:xfrm>
            <a:off x="6583680" y="484022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867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≡</a:t>
            </a:r>
            <a:endParaRPr lang="en-US" sz="1867" dirty="0"/>
          </a:p>
        </p:txBody>
      </p:sp>
      <p:sp>
        <p:nvSpPr>
          <p:cNvPr id="63" name="Text 61"/>
          <p:cNvSpPr/>
          <p:nvPr/>
        </p:nvSpPr>
        <p:spPr>
          <a:xfrm>
            <a:off x="7217664" y="4864608"/>
            <a:ext cx="256032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Normalize</a:t>
            </a:r>
            <a:endParaRPr lang="en-US" sz="1333" dirty="0"/>
          </a:p>
        </p:txBody>
      </p:sp>
      <p:sp>
        <p:nvSpPr>
          <p:cNvPr id="64" name="Text 62"/>
          <p:cNvSpPr/>
          <p:nvPr/>
        </p:nvSpPr>
        <p:spPr>
          <a:xfrm>
            <a:off x="7217664" y="5108448"/>
            <a:ext cx="2560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÷ 255 → [0,1]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9936480" y="4901184"/>
            <a:ext cx="1463040" cy="426720"/>
          </a:xfrm>
          <a:prstGeom prst="rect">
            <a:avLst/>
          </a:prstGeom>
          <a:solidFill>
            <a:srgbClr val="E8F5E9"/>
          </a:solidFill>
          <a:ln w="12700">
            <a:solidFill>
              <a:srgbClr val="A5D6A7"/>
            </a:solidFill>
            <a:prstDash val="solid"/>
          </a:ln>
        </p:spPr>
        <p:txBody>
          <a:bodyPr/>
          <a:lstStyle/>
          <a:p>
            <a:endParaRPr lang="en-GB" sz="3803"/>
          </a:p>
        </p:txBody>
      </p:sp>
      <p:sp>
        <p:nvSpPr>
          <p:cNvPr id="66" name="Text 64"/>
          <p:cNvSpPr/>
          <p:nvPr/>
        </p:nvSpPr>
        <p:spPr>
          <a:xfrm>
            <a:off x="9936480" y="4901184"/>
            <a:ext cx="146304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67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÷ 255 → [0,1]</a:t>
            </a:r>
            <a:endParaRPr lang="en-US" sz="1067" dirty="0"/>
          </a:p>
        </p:txBody>
      </p:sp>
      <p:sp>
        <p:nvSpPr>
          <p:cNvPr id="68" name="Rechteck: abgerundete Ecken 67">
            <a:extLst>
              <a:ext uri="{FF2B5EF4-FFF2-40B4-BE49-F238E27FC236}">
                <a16:creationId xmlns:a16="http://schemas.microsoft.com/office/drawing/2014/main" id="{E534B518-6B45-C9C8-D6CB-924E04653A92}"/>
              </a:ext>
            </a:extLst>
          </p:cNvPr>
          <p:cNvSpPr/>
          <p:nvPr/>
        </p:nvSpPr>
        <p:spPr>
          <a:xfrm>
            <a:off x="11613255" y="359267"/>
            <a:ext cx="395865" cy="195865"/>
          </a:xfrm>
          <a:prstGeom prst="roundRect">
            <a:avLst>
              <a:gd name="adj" fmla="val 37711"/>
            </a:avLst>
          </a:prstGeom>
          <a:solidFill>
            <a:srgbClr val="605C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/>
              <a:t>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1A237E"/>
          </a:solidFill>
          <a:ln/>
        </p:spPr>
        <p:txBody>
          <a:bodyPr/>
          <a:lstStyle/>
          <a:p>
            <a:endParaRPr lang="en-GB" sz="3803"/>
          </a:p>
        </p:txBody>
      </p:sp>
      <p:sp>
        <p:nvSpPr>
          <p:cNvPr id="3" name="Text 1"/>
          <p:cNvSpPr/>
          <p:nvPr/>
        </p:nvSpPr>
        <p:spPr>
          <a:xfrm>
            <a:off x="365760" y="121920"/>
            <a:ext cx="11460480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6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Progress </a:t>
            </a:r>
            <a:endParaRPr lang="en-US" sz="2667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AD109AD-D89B-6A86-CA55-0CA9B6CAD3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09431"/>
            <a:ext cx="12192000" cy="303850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CA6F3B30-7CFE-4DCE-8218-2A11A2F1D9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947939"/>
            <a:ext cx="12192000" cy="3052740"/>
          </a:xfrm>
          <a:prstGeom prst="rect">
            <a:avLst/>
          </a:prstGeom>
        </p:spPr>
      </p:pic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60712037-86AF-65C6-1521-B155ECC463F6}"/>
              </a:ext>
            </a:extLst>
          </p:cNvPr>
          <p:cNvSpPr/>
          <p:nvPr/>
        </p:nvSpPr>
        <p:spPr>
          <a:xfrm>
            <a:off x="11613255" y="359267"/>
            <a:ext cx="395865" cy="195865"/>
          </a:xfrm>
          <a:prstGeom prst="roundRect">
            <a:avLst>
              <a:gd name="adj" fmla="val 37711"/>
            </a:avLst>
          </a:prstGeom>
          <a:solidFill>
            <a:srgbClr val="605C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/>
              <a:t>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GB" sz="3803"/>
          </a:p>
        </p:txBody>
      </p:sp>
      <p:sp>
        <p:nvSpPr>
          <p:cNvPr id="3" name="Text 1"/>
          <p:cNvSpPr/>
          <p:nvPr/>
        </p:nvSpPr>
        <p:spPr>
          <a:xfrm>
            <a:off x="365760" y="121920"/>
            <a:ext cx="11460480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6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Confusion Matrix</a:t>
            </a:r>
            <a:endParaRPr lang="en-US" sz="2667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57359EE-6E7F-35D0-6891-3977B38FC9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3911"/>
            <a:ext cx="12192000" cy="6650181"/>
          </a:xfrm>
          <a:prstGeom prst="rect">
            <a:avLst/>
          </a:prstGeom>
        </p:spPr>
      </p:pic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59FE0347-4908-5294-C7A2-BF5F05AF1E2A}"/>
              </a:ext>
            </a:extLst>
          </p:cNvPr>
          <p:cNvSpPr/>
          <p:nvPr/>
        </p:nvSpPr>
        <p:spPr>
          <a:xfrm>
            <a:off x="11613255" y="6521942"/>
            <a:ext cx="395865" cy="195865"/>
          </a:xfrm>
          <a:prstGeom prst="roundRect">
            <a:avLst>
              <a:gd name="adj" fmla="val 37711"/>
            </a:avLst>
          </a:prstGeom>
          <a:solidFill>
            <a:srgbClr val="605C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/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4400211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1A237E"/>
          </a:solidFill>
          <a:ln/>
        </p:spPr>
        <p:txBody>
          <a:bodyPr/>
          <a:lstStyle/>
          <a:p>
            <a:endParaRPr lang="en-GB" sz="3803"/>
          </a:p>
        </p:txBody>
      </p:sp>
      <p:sp>
        <p:nvSpPr>
          <p:cNvPr id="3" name="Text 1"/>
          <p:cNvSpPr/>
          <p:nvPr/>
        </p:nvSpPr>
        <p:spPr>
          <a:xfrm>
            <a:off x="365760" y="121920"/>
            <a:ext cx="11460480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6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Progress </a:t>
            </a:r>
            <a:r>
              <a:rPr lang="de-DE" sz="26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r>
              <a:rPr lang="en-US" sz="26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Accuracy &amp; Loss Curves</a:t>
            </a:r>
            <a:endParaRPr lang="en-US" sz="2667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243840" y="1036320"/>
          <a:ext cx="5730240" cy="4389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" name="Chart 1"/>
          <p:cNvGraphicFramePr/>
          <p:nvPr>
            <p:extLst>
              <p:ext uri="{D42A27DB-BD31-4B8C-83A1-F6EECF244321}">
                <p14:modId xmlns:p14="http://schemas.microsoft.com/office/powerpoint/2010/main" val="3241901444"/>
              </p:ext>
            </p:extLst>
          </p:nvPr>
        </p:nvGraphicFramePr>
        <p:xfrm>
          <a:off x="6226103" y="1036320"/>
          <a:ext cx="5730240" cy="4389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Shape 2"/>
          <p:cNvSpPr/>
          <p:nvPr/>
        </p:nvSpPr>
        <p:spPr>
          <a:xfrm>
            <a:off x="243840" y="5608320"/>
            <a:ext cx="219456" cy="304800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en-GB" sz="3803"/>
          </a:p>
        </p:txBody>
      </p:sp>
      <p:sp>
        <p:nvSpPr>
          <p:cNvPr id="7" name="Text 3"/>
          <p:cNvSpPr/>
          <p:nvPr/>
        </p:nvSpPr>
        <p:spPr>
          <a:xfrm>
            <a:off x="548640" y="5547360"/>
            <a:ext cx="113385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convergence: val acc jumped from 85.7% → 98.4% in just 2 epochs</a:t>
            </a:r>
            <a:endParaRPr lang="en-US" sz="1333" dirty="0"/>
          </a:p>
        </p:txBody>
      </p:sp>
      <p:sp>
        <p:nvSpPr>
          <p:cNvPr id="8" name="Shape 4"/>
          <p:cNvSpPr/>
          <p:nvPr/>
        </p:nvSpPr>
        <p:spPr>
          <a:xfrm>
            <a:off x="243840" y="5608320"/>
            <a:ext cx="219456" cy="304800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en-GB" sz="3803"/>
          </a:p>
        </p:txBody>
      </p:sp>
      <p:sp>
        <p:nvSpPr>
          <p:cNvPr id="9" name="Text 5"/>
          <p:cNvSpPr/>
          <p:nvPr/>
        </p:nvSpPr>
        <p:spPr>
          <a:xfrm>
            <a:off x="548640" y="5876544"/>
            <a:ext cx="113385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epoch: 13  (val acc 99.39%,  val loss 0.0186)</a:t>
            </a:r>
            <a:endParaRPr lang="en-US" sz="1333" dirty="0"/>
          </a:p>
        </p:txBody>
      </p:sp>
      <p:sp>
        <p:nvSpPr>
          <p:cNvPr id="10" name="Shape 6"/>
          <p:cNvSpPr/>
          <p:nvPr/>
        </p:nvSpPr>
        <p:spPr>
          <a:xfrm>
            <a:off x="243840" y="5608320"/>
            <a:ext cx="219456" cy="304800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en-GB" sz="3803"/>
          </a:p>
        </p:txBody>
      </p:sp>
      <p:sp>
        <p:nvSpPr>
          <p:cNvPr id="11" name="Text 7"/>
          <p:cNvSpPr/>
          <p:nvPr/>
        </p:nvSpPr>
        <p:spPr>
          <a:xfrm>
            <a:off x="548640" y="6205728"/>
            <a:ext cx="113385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stopping triggered at epoch 18, no overfitting observed</a:t>
            </a:r>
            <a:endParaRPr lang="en-US" sz="1333" dirty="0"/>
          </a:p>
        </p:txBody>
      </p:sp>
      <p:sp>
        <p:nvSpPr>
          <p:cNvPr id="12" name="Shape 8"/>
          <p:cNvSpPr/>
          <p:nvPr/>
        </p:nvSpPr>
        <p:spPr>
          <a:xfrm>
            <a:off x="243840" y="5608320"/>
            <a:ext cx="219456" cy="304800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en-GB" sz="3803"/>
          </a:p>
        </p:txBody>
      </p:sp>
      <p:sp>
        <p:nvSpPr>
          <p:cNvPr id="13" name="Text 9"/>
          <p:cNvSpPr/>
          <p:nvPr/>
        </p:nvSpPr>
        <p:spPr>
          <a:xfrm>
            <a:off x="548640" y="6534912"/>
            <a:ext cx="113385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ReduceLROnPlateau halved LR at epochs 6 / 10 / 12 / 17</a:t>
            </a:r>
            <a:endParaRPr lang="en-US" sz="1333" dirty="0"/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B362A70E-8103-3953-5A58-5A8A2A3B3146}"/>
              </a:ext>
            </a:extLst>
          </p:cNvPr>
          <p:cNvSpPr/>
          <p:nvPr/>
        </p:nvSpPr>
        <p:spPr>
          <a:xfrm>
            <a:off x="11613255" y="359267"/>
            <a:ext cx="395865" cy="195865"/>
          </a:xfrm>
          <a:prstGeom prst="roundRect">
            <a:avLst>
              <a:gd name="adj" fmla="val 37711"/>
            </a:avLst>
          </a:prstGeom>
          <a:solidFill>
            <a:srgbClr val="605C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 dirty="0"/>
              <a:t>2</a:t>
            </a:r>
            <a:r>
              <a:rPr lang="en-GB" sz="1200" b="1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42948976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1A237E"/>
          </a:solidFill>
          <a:ln/>
        </p:spPr>
        <p:txBody>
          <a:bodyPr/>
          <a:lstStyle/>
          <a:p>
            <a:endParaRPr lang="en-GB" sz="3803"/>
          </a:p>
        </p:txBody>
      </p:sp>
      <p:sp>
        <p:nvSpPr>
          <p:cNvPr id="3" name="Text 1"/>
          <p:cNvSpPr/>
          <p:nvPr/>
        </p:nvSpPr>
        <p:spPr>
          <a:xfrm>
            <a:off x="365760" y="121920"/>
            <a:ext cx="11460480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6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 Matrix</a:t>
            </a:r>
            <a:endParaRPr lang="en-US" sz="2667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61819A97-CA24-AD9B-5874-7CD0508818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01440"/>
            <a:ext cx="12192000" cy="5334000"/>
          </a:xfrm>
          <a:prstGeom prst="rect">
            <a:avLst/>
          </a:prstGeom>
        </p:spPr>
      </p:pic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0A5CD114-DAEF-22F7-D6EE-B79358723706}"/>
              </a:ext>
            </a:extLst>
          </p:cNvPr>
          <p:cNvSpPr/>
          <p:nvPr/>
        </p:nvSpPr>
        <p:spPr>
          <a:xfrm>
            <a:off x="11613255" y="359267"/>
            <a:ext cx="395865" cy="195865"/>
          </a:xfrm>
          <a:prstGeom prst="roundRect">
            <a:avLst>
              <a:gd name="adj" fmla="val 37711"/>
            </a:avLst>
          </a:prstGeom>
          <a:solidFill>
            <a:srgbClr val="605C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/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5404114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1A237E"/>
          </a:solidFill>
          <a:ln/>
        </p:spPr>
        <p:txBody>
          <a:bodyPr/>
          <a:lstStyle/>
          <a:p>
            <a:endParaRPr lang="en-GB" sz="3803"/>
          </a:p>
        </p:txBody>
      </p:sp>
      <p:sp>
        <p:nvSpPr>
          <p:cNvPr id="3" name="Text 1"/>
          <p:cNvSpPr/>
          <p:nvPr/>
        </p:nvSpPr>
        <p:spPr>
          <a:xfrm>
            <a:off x="365760" y="121920"/>
            <a:ext cx="11460480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6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Confusion Matrix</a:t>
            </a:r>
            <a:endParaRPr lang="en-US" sz="2667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286916-4228-A580-B593-37599240EA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6307" y="914400"/>
            <a:ext cx="6095496" cy="5943600"/>
          </a:xfrm>
          <a:prstGeom prst="rect">
            <a:avLst/>
          </a:prstGeom>
        </p:spPr>
      </p:pic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96E3901C-1AEF-0B60-5631-C6276B3F37DC}"/>
              </a:ext>
            </a:extLst>
          </p:cNvPr>
          <p:cNvSpPr/>
          <p:nvPr/>
        </p:nvSpPr>
        <p:spPr>
          <a:xfrm>
            <a:off x="11613255" y="359267"/>
            <a:ext cx="395865" cy="195865"/>
          </a:xfrm>
          <a:prstGeom prst="roundRect">
            <a:avLst>
              <a:gd name="adj" fmla="val 37711"/>
            </a:avLst>
          </a:prstGeom>
          <a:solidFill>
            <a:srgbClr val="605C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/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1348447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1A237E"/>
          </a:solidFill>
          <a:ln/>
        </p:spPr>
        <p:txBody>
          <a:bodyPr/>
          <a:lstStyle/>
          <a:p>
            <a:endParaRPr lang="en-GB" sz="3803"/>
          </a:p>
        </p:txBody>
      </p:sp>
      <p:sp>
        <p:nvSpPr>
          <p:cNvPr id="3" name="Text 1"/>
          <p:cNvSpPr/>
          <p:nvPr/>
        </p:nvSpPr>
        <p:spPr>
          <a:xfrm>
            <a:off x="365760" y="121920"/>
            <a:ext cx="11460480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6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Accuracy</a:t>
            </a:r>
            <a:endParaRPr lang="en-US" sz="2667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30A9703-DD4C-0232-A4E1-E96CDE948E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8560" y="1026161"/>
            <a:ext cx="7294880" cy="192494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BE3946B-9096-237F-14C6-B64018D398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25040" y="2885648"/>
            <a:ext cx="7518400" cy="3966201"/>
          </a:xfrm>
          <a:prstGeom prst="rect">
            <a:avLst/>
          </a:prstGeom>
        </p:spPr>
      </p:pic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47A509A6-E097-DC5A-F693-688A9A525DC7}"/>
              </a:ext>
            </a:extLst>
          </p:cNvPr>
          <p:cNvSpPr/>
          <p:nvPr/>
        </p:nvSpPr>
        <p:spPr>
          <a:xfrm>
            <a:off x="11613255" y="359267"/>
            <a:ext cx="395865" cy="195865"/>
          </a:xfrm>
          <a:prstGeom prst="roundRect">
            <a:avLst>
              <a:gd name="adj" fmla="val 37711"/>
            </a:avLst>
          </a:prstGeom>
          <a:solidFill>
            <a:srgbClr val="605C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/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38839739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1A237E"/>
          </a:solidFill>
          <a:ln/>
        </p:spPr>
        <p:txBody>
          <a:bodyPr/>
          <a:lstStyle/>
          <a:p>
            <a:endParaRPr lang="en-GB" sz="3803"/>
          </a:p>
        </p:txBody>
      </p:sp>
      <p:sp>
        <p:nvSpPr>
          <p:cNvPr id="3" name="Text 1"/>
          <p:cNvSpPr/>
          <p:nvPr/>
        </p:nvSpPr>
        <p:spPr>
          <a:xfrm>
            <a:off x="365760" y="121920"/>
            <a:ext cx="11460480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6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Pipeline &amp; Safe Evaluation</a:t>
            </a:r>
            <a:endParaRPr lang="en-US" sz="2667" dirty="0"/>
          </a:p>
        </p:txBody>
      </p:sp>
      <p:sp>
        <p:nvSpPr>
          <p:cNvPr id="4" name="Shape 2"/>
          <p:cNvSpPr/>
          <p:nvPr/>
        </p:nvSpPr>
        <p:spPr>
          <a:xfrm>
            <a:off x="682752" y="1097280"/>
            <a:ext cx="1950720" cy="256032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GB" sz="3803"/>
          </a:p>
        </p:txBody>
      </p:sp>
      <p:sp>
        <p:nvSpPr>
          <p:cNvPr id="5" name="Text 3"/>
          <p:cNvSpPr/>
          <p:nvPr/>
        </p:nvSpPr>
        <p:spPr>
          <a:xfrm>
            <a:off x="682752" y="1158240"/>
            <a:ext cx="195072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933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</a:t>
            </a:r>
            <a:endParaRPr lang="en-US" sz="2933" dirty="0"/>
          </a:p>
        </p:txBody>
      </p:sp>
      <p:sp>
        <p:nvSpPr>
          <p:cNvPr id="6" name="Text 4"/>
          <p:cNvSpPr/>
          <p:nvPr/>
        </p:nvSpPr>
        <p:spPr>
          <a:xfrm>
            <a:off x="682752" y="1731264"/>
            <a:ext cx="19507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2752" y="2218944"/>
            <a:ext cx="1950720" cy="792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draws on</a:t>
            </a:r>
            <a:endParaRPr lang="en-US" sz="1200" dirty="0"/>
          </a:p>
          <a:p>
            <a:pPr algn="ctr"/>
            <a:r>
              <a:rPr lang="en-US" sz="120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canvas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633472" y="2377440"/>
            <a:ext cx="268224" cy="0"/>
          </a:xfrm>
          <a:prstGeom prst="line">
            <a:avLst/>
          </a:prstGeom>
          <a:noFill/>
          <a:ln w="25400">
            <a:solidFill>
              <a:srgbClr val="00BCD4"/>
            </a:solidFill>
            <a:prstDash val="solid"/>
          </a:ln>
        </p:spPr>
        <p:txBody>
          <a:bodyPr/>
          <a:lstStyle/>
          <a:p>
            <a:endParaRPr lang="en-GB" sz="3803"/>
          </a:p>
        </p:txBody>
      </p:sp>
      <p:sp>
        <p:nvSpPr>
          <p:cNvPr id="9" name="Shape 7"/>
          <p:cNvSpPr/>
          <p:nvPr/>
        </p:nvSpPr>
        <p:spPr>
          <a:xfrm>
            <a:off x="2901696" y="1097280"/>
            <a:ext cx="1950720" cy="2560320"/>
          </a:xfrm>
          <a:prstGeom prst="rect">
            <a:avLst/>
          </a:prstGeom>
          <a:solidFill>
            <a:srgbClr val="00838F"/>
          </a:solidFill>
          <a:ln w="12700">
            <a:solidFill>
              <a:srgbClr val="00838F"/>
            </a:solidFill>
            <a:prstDash val="solid"/>
          </a:ln>
        </p:spPr>
        <p:txBody>
          <a:bodyPr/>
          <a:lstStyle/>
          <a:p>
            <a:endParaRPr lang="en-GB" sz="3803"/>
          </a:p>
        </p:txBody>
      </p:sp>
      <p:sp>
        <p:nvSpPr>
          <p:cNvPr id="10" name="Text 8"/>
          <p:cNvSpPr/>
          <p:nvPr/>
        </p:nvSpPr>
        <p:spPr>
          <a:xfrm>
            <a:off x="2901696" y="1158240"/>
            <a:ext cx="195072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933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▣</a:t>
            </a:r>
            <a:endParaRPr lang="en-US" sz="2933" dirty="0"/>
          </a:p>
        </p:txBody>
      </p:sp>
      <p:sp>
        <p:nvSpPr>
          <p:cNvPr id="11" name="Text 9"/>
          <p:cNvSpPr/>
          <p:nvPr/>
        </p:nvSpPr>
        <p:spPr>
          <a:xfrm>
            <a:off x="2901696" y="1731264"/>
            <a:ext cx="19507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901696" y="2218944"/>
            <a:ext cx="1950720" cy="792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Resize 28×28</a:t>
            </a:r>
            <a:endParaRPr lang="en-US" sz="1200" dirty="0"/>
          </a:p>
          <a:p>
            <a:pPr algn="ctr"/>
            <a:r>
              <a:rPr lang="en-US" sz="120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 ÷ 255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852416" y="2377440"/>
            <a:ext cx="268224" cy="0"/>
          </a:xfrm>
          <a:prstGeom prst="line">
            <a:avLst/>
          </a:prstGeom>
          <a:noFill/>
          <a:ln w="25400">
            <a:solidFill>
              <a:srgbClr val="00BCD4"/>
            </a:solidFill>
            <a:prstDash val="solid"/>
          </a:ln>
        </p:spPr>
        <p:txBody>
          <a:bodyPr/>
          <a:lstStyle/>
          <a:p>
            <a:endParaRPr lang="en-GB" sz="3803"/>
          </a:p>
        </p:txBody>
      </p:sp>
      <p:sp>
        <p:nvSpPr>
          <p:cNvPr id="14" name="Shape 12"/>
          <p:cNvSpPr/>
          <p:nvPr/>
        </p:nvSpPr>
        <p:spPr>
          <a:xfrm>
            <a:off x="5120640" y="1097280"/>
            <a:ext cx="1950720" cy="2560320"/>
          </a:xfrm>
          <a:prstGeom prst="rect">
            <a:avLst/>
          </a:prstGeom>
          <a:solidFill>
            <a:srgbClr val="4527A0"/>
          </a:solidFill>
          <a:ln w="12700">
            <a:solidFill>
              <a:srgbClr val="4527A0"/>
            </a:solidFill>
            <a:prstDash val="solid"/>
          </a:ln>
        </p:spPr>
        <p:txBody>
          <a:bodyPr/>
          <a:lstStyle/>
          <a:p>
            <a:endParaRPr lang="en-GB" sz="3803"/>
          </a:p>
        </p:txBody>
      </p:sp>
      <p:sp>
        <p:nvSpPr>
          <p:cNvPr id="15" name="Text 13"/>
          <p:cNvSpPr/>
          <p:nvPr/>
        </p:nvSpPr>
        <p:spPr>
          <a:xfrm>
            <a:off x="5120640" y="1158240"/>
            <a:ext cx="195072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933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⊞</a:t>
            </a:r>
            <a:endParaRPr lang="en-US" sz="2933" dirty="0"/>
          </a:p>
        </p:txBody>
      </p:sp>
      <p:sp>
        <p:nvSpPr>
          <p:cNvPr id="16" name="Text 14"/>
          <p:cNvSpPr/>
          <p:nvPr/>
        </p:nvSpPr>
        <p:spPr>
          <a:xfrm>
            <a:off x="5120640" y="1731264"/>
            <a:ext cx="19507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Infer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120640" y="2218944"/>
            <a:ext cx="1950720" cy="792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pass</a:t>
            </a:r>
            <a:endParaRPr lang="en-US" sz="1200" dirty="0"/>
          </a:p>
          <a:p>
            <a:pPr algn="ctr"/>
            <a:r>
              <a:rPr lang="en-US" sz="120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best_model.keras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071360" y="2377440"/>
            <a:ext cx="268224" cy="0"/>
          </a:xfrm>
          <a:prstGeom prst="line">
            <a:avLst/>
          </a:prstGeom>
          <a:noFill/>
          <a:ln w="25400">
            <a:solidFill>
              <a:srgbClr val="00BCD4"/>
            </a:solidFill>
            <a:prstDash val="solid"/>
          </a:ln>
        </p:spPr>
        <p:txBody>
          <a:bodyPr/>
          <a:lstStyle/>
          <a:p>
            <a:endParaRPr lang="en-GB" sz="3803"/>
          </a:p>
        </p:txBody>
      </p:sp>
      <p:sp>
        <p:nvSpPr>
          <p:cNvPr id="19" name="Shape 17"/>
          <p:cNvSpPr/>
          <p:nvPr/>
        </p:nvSpPr>
        <p:spPr>
          <a:xfrm>
            <a:off x="7339584" y="1097280"/>
            <a:ext cx="1950720" cy="2560320"/>
          </a:xfrm>
          <a:prstGeom prst="rect">
            <a:avLst/>
          </a:prstGeom>
          <a:solidFill>
            <a:srgbClr val="880E4F"/>
          </a:solidFill>
          <a:ln w="12700">
            <a:solidFill>
              <a:srgbClr val="880E4F"/>
            </a:solidFill>
            <a:prstDash val="solid"/>
          </a:ln>
        </p:spPr>
        <p:txBody>
          <a:bodyPr/>
          <a:lstStyle/>
          <a:p>
            <a:endParaRPr lang="en-GB" sz="3803"/>
          </a:p>
        </p:txBody>
      </p:sp>
      <p:sp>
        <p:nvSpPr>
          <p:cNvPr id="20" name="Text 18"/>
          <p:cNvSpPr/>
          <p:nvPr/>
        </p:nvSpPr>
        <p:spPr>
          <a:xfrm>
            <a:off x="7339584" y="1158240"/>
            <a:ext cx="195072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933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⊑</a:t>
            </a:r>
            <a:endParaRPr lang="en-US" sz="2933" dirty="0"/>
          </a:p>
        </p:txBody>
      </p:sp>
      <p:sp>
        <p:nvSpPr>
          <p:cNvPr id="21" name="Text 19"/>
          <p:cNvSpPr/>
          <p:nvPr/>
        </p:nvSpPr>
        <p:spPr>
          <a:xfrm>
            <a:off x="7339584" y="1731264"/>
            <a:ext cx="19507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Softmax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339584" y="2218944"/>
            <a:ext cx="1950720" cy="792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14-class probs</a:t>
            </a:r>
            <a:endParaRPr lang="en-US" sz="1200" dirty="0"/>
          </a:p>
          <a:p>
            <a:pPr algn="ctr"/>
            <a:r>
              <a:rPr lang="en-US" sz="120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Argmax → label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290304" y="2377440"/>
            <a:ext cx="268224" cy="0"/>
          </a:xfrm>
          <a:prstGeom prst="line">
            <a:avLst/>
          </a:prstGeom>
          <a:noFill/>
          <a:ln w="25400">
            <a:solidFill>
              <a:srgbClr val="00BCD4"/>
            </a:solidFill>
            <a:prstDash val="solid"/>
          </a:ln>
        </p:spPr>
        <p:txBody>
          <a:bodyPr/>
          <a:lstStyle/>
          <a:p>
            <a:endParaRPr lang="en-GB" sz="3803"/>
          </a:p>
        </p:txBody>
      </p:sp>
      <p:sp>
        <p:nvSpPr>
          <p:cNvPr id="24" name="Shape 22"/>
          <p:cNvSpPr/>
          <p:nvPr/>
        </p:nvSpPr>
        <p:spPr>
          <a:xfrm>
            <a:off x="9558528" y="1097280"/>
            <a:ext cx="1950720" cy="2560320"/>
          </a:xfrm>
          <a:prstGeom prst="rect">
            <a:avLst/>
          </a:prstGeom>
          <a:solidFill>
            <a:srgbClr val="FF6F00"/>
          </a:solidFill>
          <a:ln w="12700">
            <a:solidFill>
              <a:srgbClr val="FF6F00"/>
            </a:solidFill>
            <a:prstDash val="solid"/>
          </a:ln>
        </p:spPr>
        <p:txBody>
          <a:bodyPr/>
          <a:lstStyle/>
          <a:p>
            <a:endParaRPr lang="en-GB" sz="3803"/>
          </a:p>
        </p:txBody>
      </p:sp>
      <p:sp>
        <p:nvSpPr>
          <p:cNvPr id="25" name="Text 23"/>
          <p:cNvSpPr/>
          <p:nvPr/>
        </p:nvSpPr>
        <p:spPr>
          <a:xfrm>
            <a:off x="9558528" y="1158240"/>
            <a:ext cx="195072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933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en-US" sz="2933" dirty="0"/>
          </a:p>
        </p:txBody>
      </p:sp>
      <p:sp>
        <p:nvSpPr>
          <p:cNvPr id="26" name="Text 24"/>
          <p:cNvSpPr/>
          <p:nvPr/>
        </p:nvSpPr>
        <p:spPr>
          <a:xfrm>
            <a:off x="9558528" y="1731264"/>
            <a:ext cx="19507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558528" y="2218944"/>
            <a:ext cx="1950720" cy="792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equation</a:t>
            </a:r>
            <a:endParaRPr lang="en-US" sz="1200" dirty="0"/>
          </a:p>
          <a:p>
            <a:pPr algn="ctr"/>
            <a:r>
              <a:rPr lang="en-US" sz="120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result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65760" y="3901440"/>
            <a:ext cx="11460480" cy="426720"/>
          </a:xfrm>
          <a:prstGeom prst="rect">
            <a:avLst/>
          </a:prstGeom>
          <a:solidFill>
            <a:srgbClr val="E8F5E9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en-GB" sz="3803"/>
          </a:p>
        </p:txBody>
      </p:sp>
      <p:sp>
        <p:nvSpPr>
          <p:cNvPr id="29" name="Text 27"/>
          <p:cNvSpPr/>
          <p:nvPr/>
        </p:nvSpPr>
        <p:spPr>
          <a:xfrm>
            <a:off x="365760" y="3901440"/>
            <a:ext cx="1146048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EVALUATION DESIGN</a:t>
            </a:r>
            <a:endParaRPr lang="en-US" sz="1467" dirty="0"/>
          </a:p>
        </p:txBody>
      </p:sp>
      <p:sp>
        <p:nvSpPr>
          <p:cNvPr id="30" name="Shape 28"/>
          <p:cNvSpPr/>
          <p:nvPr/>
        </p:nvSpPr>
        <p:spPr>
          <a:xfrm>
            <a:off x="426720" y="4450080"/>
            <a:ext cx="341376" cy="341376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GB" sz="3803"/>
          </a:p>
        </p:txBody>
      </p:sp>
      <p:sp>
        <p:nvSpPr>
          <p:cNvPr id="31" name="Text 29"/>
          <p:cNvSpPr/>
          <p:nvPr/>
        </p:nvSpPr>
        <p:spPr>
          <a:xfrm>
            <a:off x="426720" y="4450080"/>
            <a:ext cx="341376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333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33" dirty="0"/>
          </a:p>
        </p:txBody>
      </p:sp>
      <p:sp>
        <p:nvSpPr>
          <p:cNvPr id="32" name="Text 30"/>
          <p:cNvSpPr/>
          <p:nvPr/>
        </p:nvSpPr>
        <p:spPr>
          <a:xfrm>
            <a:off x="853440" y="4437888"/>
            <a:ext cx="10972800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 guard: model.compile() enforced before evaluate() call — catches ValueError before production</a:t>
            </a:r>
            <a:endParaRPr lang="en-US" sz="1333" dirty="0"/>
          </a:p>
        </p:txBody>
      </p:sp>
      <p:sp>
        <p:nvSpPr>
          <p:cNvPr id="33" name="Shape 31"/>
          <p:cNvSpPr/>
          <p:nvPr/>
        </p:nvSpPr>
        <p:spPr>
          <a:xfrm>
            <a:off x="426720" y="5010912"/>
            <a:ext cx="341376" cy="341376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GB" sz="3803"/>
          </a:p>
        </p:txBody>
      </p:sp>
      <p:sp>
        <p:nvSpPr>
          <p:cNvPr id="34" name="Text 32"/>
          <p:cNvSpPr/>
          <p:nvPr/>
        </p:nvSpPr>
        <p:spPr>
          <a:xfrm>
            <a:off x="426720" y="5010912"/>
            <a:ext cx="341376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333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33" dirty="0"/>
          </a:p>
        </p:txBody>
      </p:sp>
      <p:sp>
        <p:nvSpPr>
          <p:cNvPr id="35" name="Text 33"/>
          <p:cNvSpPr/>
          <p:nvPr/>
        </p:nvSpPr>
        <p:spPr>
          <a:xfrm>
            <a:off x="853440" y="4998720"/>
            <a:ext cx="10972800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Class-split eval: digit accuracy (99.38%) and operator accuracy (99.59%) measured independently to catch domain imbalance</a:t>
            </a:r>
            <a:endParaRPr lang="en-US" sz="1333" dirty="0"/>
          </a:p>
        </p:txBody>
      </p:sp>
      <p:sp>
        <p:nvSpPr>
          <p:cNvPr id="36" name="Shape 34"/>
          <p:cNvSpPr/>
          <p:nvPr/>
        </p:nvSpPr>
        <p:spPr>
          <a:xfrm>
            <a:off x="426720" y="5571744"/>
            <a:ext cx="341376" cy="341376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GB" sz="3803"/>
          </a:p>
        </p:txBody>
      </p:sp>
      <p:sp>
        <p:nvSpPr>
          <p:cNvPr id="37" name="Text 35"/>
          <p:cNvSpPr/>
          <p:nvPr/>
        </p:nvSpPr>
        <p:spPr>
          <a:xfrm>
            <a:off x="426720" y="5571744"/>
            <a:ext cx="341376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333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33" dirty="0"/>
          </a:p>
        </p:txBody>
      </p:sp>
      <p:sp>
        <p:nvSpPr>
          <p:cNvPr id="38" name="Text 36"/>
          <p:cNvSpPr/>
          <p:nvPr/>
        </p:nvSpPr>
        <p:spPr>
          <a:xfrm>
            <a:off x="853440" y="5559552"/>
            <a:ext cx="10972800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Round-trip check: best_model.keras reloaded and re-evaluated after save to confirm lossless serialization</a:t>
            </a:r>
            <a:endParaRPr lang="en-US" sz="1333" dirty="0"/>
          </a:p>
        </p:txBody>
      </p:sp>
      <p:sp>
        <p:nvSpPr>
          <p:cNvPr id="39" name="Shape 37"/>
          <p:cNvSpPr/>
          <p:nvPr/>
        </p:nvSpPr>
        <p:spPr>
          <a:xfrm>
            <a:off x="426720" y="6132576"/>
            <a:ext cx="341376" cy="341376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GB" sz="3803"/>
          </a:p>
        </p:txBody>
      </p:sp>
      <p:sp>
        <p:nvSpPr>
          <p:cNvPr id="40" name="Text 38"/>
          <p:cNvSpPr/>
          <p:nvPr/>
        </p:nvSpPr>
        <p:spPr>
          <a:xfrm>
            <a:off x="426720" y="6132576"/>
            <a:ext cx="341376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333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33" dirty="0"/>
          </a:p>
        </p:txBody>
      </p:sp>
      <p:sp>
        <p:nvSpPr>
          <p:cNvPr id="41" name="Text 39"/>
          <p:cNvSpPr/>
          <p:nvPr/>
        </p:nvSpPr>
        <p:spPr>
          <a:xfrm>
            <a:off x="853440" y="6120384"/>
            <a:ext cx="10972800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 guard: eval logic checks divisor ≠ 0 before computing; invalid expressions return 'Error' not exception</a:t>
            </a:r>
            <a:endParaRPr lang="en-US" sz="1333" dirty="0"/>
          </a:p>
        </p:txBody>
      </p:sp>
      <p:sp>
        <p:nvSpPr>
          <p:cNvPr id="43" name="Rechteck: abgerundete Ecken 42">
            <a:extLst>
              <a:ext uri="{FF2B5EF4-FFF2-40B4-BE49-F238E27FC236}">
                <a16:creationId xmlns:a16="http://schemas.microsoft.com/office/drawing/2014/main" id="{91883107-E4EC-876F-52BE-0BEC68642ECA}"/>
              </a:ext>
            </a:extLst>
          </p:cNvPr>
          <p:cNvSpPr/>
          <p:nvPr/>
        </p:nvSpPr>
        <p:spPr>
          <a:xfrm>
            <a:off x="11613255" y="359267"/>
            <a:ext cx="395865" cy="195865"/>
          </a:xfrm>
          <a:prstGeom prst="roundRect">
            <a:avLst>
              <a:gd name="adj" fmla="val 37711"/>
            </a:avLst>
          </a:prstGeom>
          <a:solidFill>
            <a:srgbClr val="605C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/>
              <a:t>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1A237E"/>
          </a:solidFill>
          <a:ln/>
        </p:spPr>
        <p:txBody>
          <a:bodyPr/>
          <a:lstStyle/>
          <a:p>
            <a:endParaRPr lang="en-GB" sz="3803"/>
          </a:p>
        </p:txBody>
      </p:sp>
      <p:sp>
        <p:nvSpPr>
          <p:cNvPr id="3" name="Text 1"/>
          <p:cNvSpPr/>
          <p:nvPr/>
        </p:nvSpPr>
        <p:spPr>
          <a:xfrm>
            <a:off x="365760" y="121920"/>
            <a:ext cx="11460480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6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2667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A8FFFA0-F230-909F-F2DC-698425F6BBDE}"/>
              </a:ext>
            </a:extLst>
          </p:cNvPr>
          <p:cNvSpPr/>
          <p:nvPr/>
        </p:nvSpPr>
        <p:spPr>
          <a:xfrm>
            <a:off x="487680" y="1767840"/>
            <a:ext cx="5364480" cy="1950720"/>
          </a:xfrm>
          <a:prstGeom prst="rect">
            <a:avLst/>
          </a:prstGeom>
          <a:solidFill>
            <a:schemeClr val="accent5">
              <a:lumMod val="75000"/>
            </a:schemeClr>
          </a:solidFill>
          <a:ln/>
        </p:spPr>
        <p:txBody>
          <a:bodyPr wrap="square" rtlCol="0" anchor="ctr"/>
          <a:lstStyle/>
          <a:p>
            <a:pPr>
              <a:lnSpc>
                <a:spcPct val="120000"/>
              </a:lnSpc>
            </a:pPr>
            <a:r>
              <a:rPr lang="en-US" sz="1467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Conv layers (32→32→64→64→128)</a:t>
            </a:r>
            <a:endParaRPr lang="en-US" sz="1467" dirty="0"/>
          </a:p>
          <a:p>
            <a:pPr>
              <a:lnSpc>
                <a:spcPct val="120000"/>
              </a:lnSpc>
            </a:pPr>
            <a:r>
              <a:rPr lang="en-US" sz="1467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GlobalAvgPool → Dense 256 → Softmax 14</a:t>
            </a:r>
            <a:endParaRPr lang="en-US" sz="1467" dirty="0"/>
          </a:p>
          <a:p>
            <a:pPr>
              <a:lnSpc>
                <a:spcPct val="120000"/>
              </a:lnSpc>
            </a:pPr>
            <a:r>
              <a:rPr lang="en-US" sz="1467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177K params, only 694 KB</a:t>
            </a:r>
            <a:endParaRPr lang="en-US" sz="1467" dirty="0"/>
          </a:p>
        </p:txBody>
      </p:sp>
      <p:sp>
        <p:nvSpPr>
          <p:cNvPr id="8" name="Text 9">
            <a:extLst>
              <a:ext uri="{FF2B5EF4-FFF2-40B4-BE49-F238E27FC236}">
                <a16:creationId xmlns:a16="http://schemas.microsoft.com/office/drawing/2014/main" id="{9DDA58AE-4A36-98CC-1A82-A447F16EE164}"/>
              </a:ext>
            </a:extLst>
          </p:cNvPr>
          <p:cNvSpPr/>
          <p:nvPr/>
        </p:nvSpPr>
        <p:spPr>
          <a:xfrm>
            <a:off x="6400800" y="1767840"/>
            <a:ext cx="5364480" cy="1950720"/>
          </a:xfrm>
          <a:prstGeom prst="rect">
            <a:avLst/>
          </a:prstGeom>
          <a:solidFill>
            <a:schemeClr val="accent2">
              <a:lumMod val="50000"/>
            </a:schemeClr>
          </a:solidFill>
          <a:ln/>
        </p:spPr>
        <p:txBody>
          <a:bodyPr wrap="square" rtlCol="0" anchor="ctr"/>
          <a:lstStyle/>
          <a:p>
            <a:pPr>
              <a:lnSpc>
                <a:spcPct val="120000"/>
              </a:lnSpc>
            </a:pPr>
            <a:r>
              <a:rPr lang="en-US" sz="1467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MNIST (60K) + Kaggle operators (~490/class)</a:t>
            </a:r>
            <a:endParaRPr lang="en-US" sz="1467" dirty="0"/>
          </a:p>
          <a:p>
            <a:pPr>
              <a:lnSpc>
                <a:spcPct val="120000"/>
              </a:lnSpc>
            </a:pPr>
            <a:r>
              <a:rPr lang="en-US" sz="1467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Auto-balanced · Elastic deform · Online aug</a:t>
            </a:r>
            <a:endParaRPr lang="en-US" sz="1467" dirty="0"/>
          </a:p>
          <a:p>
            <a:pPr>
              <a:lnSpc>
                <a:spcPct val="120000"/>
              </a:lnSpc>
            </a:pPr>
            <a:r>
              <a:rPr lang="en-US" sz="1467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augmentation reduces overfitting</a:t>
            </a:r>
            <a:endParaRPr lang="en-US" sz="1467" dirty="0"/>
          </a:p>
        </p:txBody>
      </p:sp>
      <p:sp>
        <p:nvSpPr>
          <p:cNvPr id="10" name="Text 13">
            <a:extLst>
              <a:ext uri="{FF2B5EF4-FFF2-40B4-BE49-F238E27FC236}">
                <a16:creationId xmlns:a16="http://schemas.microsoft.com/office/drawing/2014/main" id="{E964D0E2-1AA6-3A47-8971-449D7B042E4F}"/>
              </a:ext>
            </a:extLst>
          </p:cNvPr>
          <p:cNvSpPr/>
          <p:nvPr/>
        </p:nvSpPr>
        <p:spPr>
          <a:xfrm>
            <a:off x="487680" y="4572000"/>
            <a:ext cx="5364480" cy="1950720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txBody>
          <a:bodyPr wrap="square" rtlCol="0" anchor="ctr"/>
          <a:lstStyle/>
          <a:p>
            <a:pPr>
              <a:lnSpc>
                <a:spcPct val="120000"/>
              </a:lnSpc>
            </a:pPr>
            <a:r>
              <a:rPr lang="en-US" sz="1467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AdamW + ReduceLROnPlateau (×0.5 on plateau)</a:t>
            </a:r>
            <a:endParaRPr lang="en-US" sz="1467" dirty="0"/>
          </a:p>
          <a:p>
            <a:pPr>
              <a:lnSpc>
                <a:spcPct val="120000"/>
              </a:lnSpc>
            </a:pPr>
            <a:r>
              <a:rPr lang="en-US" sz="1467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EarlyStop @ ep18, best weights restored ep13</a:t>
            </a:r>
            <a:endParaRPr lang="en-US" sz="1467" dirty="0"/>
          </a:p>
          <a:p>
            <a:pPr>
              <a:lnSpc>
                <a:spcPct val="120000"/>
              </a:lnSpc>
            </a:pPr>
            <a:r>
              <a:rPr lang="en-US" sz="1467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convergence: 98.4% val acc by epoch 2</a:t>
            </a:r>
            <a:endParaRPr lang="en-US" sz="1467" dirty="0"/>
          </a:p>
        </p:txBody>
      </p:sp>
      <p:sp>
        <p:nvSpPr>
          <p:cNvPr id="11" name="Text 17">
            <a:extLst>
              <a:ext uri="{FF2B5EF4-FFF2-40B4-BE49-F238E27FC236}">
                <a16:creationId xmlns:a16="http://schemas.microsoft.com/office/drawing/2014/main" id="{877ECC1F-CBBA-833A-515B-D6F9F03A1FD6}"/>
              </a:ext>
            </a:extLst>
          </p:cNvPr>
          <p:cNvSpPr/>
          <p:nvPr/>
        </p:nvSpPr>
        <p:spPr>
          <a:xfrm>
            <a:off x="6400800" y="4572000"/>
            <a:ext cx="5364480" cy="1950720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 anchor="ctr"/>
          <a:lstStyle/>
          <a:p>
            <a:pPr>
              <a:lnSpc>
                <a:spcPct val="120000"/>
              </a:lnSpc>
            </a:pPr>
            <a:r>
              <a:rPr lang="en-US" sz="1467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Overall: 99.39%  |  Digits: 99.38%</a:t>
            </a:r>
            <a:endParaRPr lang="en-US" sz="1467" dirty="0"/>
          </a:p>
          <a:p>
            <a:pPr>
              <a:lnSpc>
                <a:spcPct val="120000"/>
              </a:lnSpc>
            </a:pPr>
            <a:r>
              <a:rPr lang="en-US" sz="1467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Operators: 99.59%  |  − &amp; ÷: 100%</a:t>
            </a:r>
            <a:endParaRPr lang="en-US" sz="1467" dirty="0"/>
          </a:p>
          <a:p>
            <a:pPr>
              <a:lnSpc>
                <a:spcPct val="120000"/>
              </a:lnSpc>
            </a:pPr>
            <a:r>
              <a:rPr lang="en-US" sz="1467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across all 14 classes ≥ 98.7%</a:t>
            </a:r>
            <a:endParaRPr lang="en-US" sz="1467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B1F996F-FCE9-665E-551D-0F8B8276A14F}"/>
              </a:ext>
            </a:extLst>
          </p:cNvPr>
          <p:cNvSpPr txBox="1"/>
          <p:nvPr/>
        </p:nvSpPr>
        <p:spPr>
          <a:xfrm>
            <a:off x="6400800" y="4490248"/>
            <a:ext cx="6096000" cy="6775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80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3803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F87B4F2-E197-5EF6-1EBA-7A718FD2A47B}"/>
              </a:ext>
            </a:extLst>
          </p:cNvPr>
          <p:cNvSpPr txBox="1"/>
          <p:nvPr/>
        </p:nvSpPr>
        <p:spPr>
          <a:xfrm>
            <a:off x="487680" y="4490248"/>
            <a:ext cx="6296472" cy="6775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80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</a:t>
            </a:r>
            <a:endParaRPr lang="en-US" sz="3803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95F5300-4F8A-2669-9F2B-4959BDD8607F}"/>
              </a:ext>
            </a:extLst>
          </p:cNvPr>
          <p:cNvSpPr txBox="1"/>
          <p:nvPr/>
        </p:nvSpPr>
        <p:spPr>
          <a:xfrm>
            <a:off x="426720" y="1751475"/>
            <a:ext cx="6247376" cy="6775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80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3803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3F09D63-6C69-D8BF-3ED1-177F00D602CB}"/>
              </a:ext>
            </a:extLst>
          </p:cNvPr>
          <p:cNvSpPr txBox="1"/>
          <p:nvPr/>
        </p:nvSpPr>
        <p:spPr>
          <a:xfrm>
            <a:off x="6400800" y="1734364"/>
            <a:ext cx="6247376" cy="6775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80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Strategy</a:t>
            </a:r>
            <a:endParaRPr lang="en-US" sz="3803" dirty="0"/>
          </a:p>
        </p:txBody>
      </p:sp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341FF28F-749A-9E2E-B3FB-4C9D96BD8BC3}"/>
              </a:ext>
            </a:extLst>
          </p:cNvPr>
          <p:cNvSpPr/>
          <p:nvPr/>
        </p:nvSpPr>
        <p:spPr>
          <a:xfrm>
            <a:off x="11613255" y="359267"/>
            <a:ext cx="395865" cy="195865"/>
          </a:xfrm>
          <a:prstGeom prst="roundRect">
            <a:avLst>
              <a:gd name="adj" fmla="val 37711"/>
            </a:avLst>
          </a:prstGeom>
          <a:solidFill>
            <a:srgbClr val="605C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/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333389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– 2022-Design">
  <a:themeElements>
    <a:clrScheme name="Office 2013 – 2022-Design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– 2022-Design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– 2022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0</TotalTime>
  <Words>671</Words>
  <Application>Microsoft Office PowerPoint</Application>
  <PresentationFormat>Breitbild</PresentationFormat>
  <Paragraphs>167</Paragraphs>
  <Slides>14</Slides>
  <Notes>14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14</vt:i4>
      </vt:variant>
    </vt:vector>
  </HeadingPairs>
  <TitlesOfParts>
    <vt:vector size="19" baseType="lpstr">
      <vt:lpstr>Arial</vt:lpstr>
      <vt:lpstr>Calibri</vt:lpstr>
      <vt:lpstr>Calibri Light</vt:lpstr>
      <vt:lpstr>Lato</vt:lpstr>
      <vt:lpstr>Office 2013 – 2022-Design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c1844717, 35ff5f89</cp:lastModifiedBy>
  <cp:revision>9</cp:revision>
  <cp:lastPrinted>2026-05-31T15:32:31Z</cp:lastPrinted>
  <dcterms:created xsi:type="dcterms:W3CDTF">2026-05-29T14:34:03Z</dcterms:created>
  <dcterms:modified xsi:type="dcterms:W3CDTF">2026-05-31T16:12:31Z</dcterms:modified>
</cp:coreProperties>
</file>